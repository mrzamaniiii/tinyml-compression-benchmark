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5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Windows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Training</c:v>
                </c:pt>
                <c:pt idx="1">
                  <c:v>Validation</c:v>
                </c:pt>
                <c:pt idx="2">
                  <c:v>Test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256</c:v>
                </c:pt>
                <c:pt idx="1">
                  <c:v>32</c:v>
                </c:pt>
                <c:pt idx="2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D-403C-A711-8458BFE455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CNN</c:v>
                </c:pt>
                <c:pt idx="1">
                  <c:v>Depthwise CNN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160320</c:v>
                </c:pt>
                <c:pt idx="1">
                  <c:v>52544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C7-4CE7-AEF2-6F24732AA4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6202B"/>
                </a:solidFill>
                <a:latin typeface="Cambria"/>
              </a:defRPr>
            </a:pPr>
            <a:r>
              <a:rPr lang="en-US" sz="1300" b="1" i="0" u="none" strike="noStrike">
                <a:solidFill>
                  <a:srgbClr val="16202B"/>
                </a:solidFill>
                <a:latin typeface="Cambria"/>
              </a:rPr>
              <a:t>Arduino Inference Latency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latency</c:v>
                </c:pt>
              </c:strCache>
            </c:strRef>
          </c:tx>
          <c:spPr>
            <a:solidFill>
              <a:srgbClr val="0090A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Standard CNN
INT8</c:v>
                </c:pt>
                <c:pt idx="1">
                  <c:v>Depthwise CNN
INT8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25.37</c:v>
                </c:pt>
                <c:pt idx="1">
                  <c:v>16.88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60-4A7A-8EA8-D74CBCD308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1" i="0" u="none" strike="noStrike">
                <a:solidFill>
                  <a:srgbClr val="16202B"/>
                </a:solidFill>
                <a:latin typeface="Cambria"/>
              </a:defRPr>
            </a:pPr>
            <a:r>
              <a:rPr lang="en-US" sz="1250" b="1" i="0" u="none" strike="noStrike">
                <a:solidFill>
                  <a:srgbClr val="16202B"/>
                </a:solidFill>
                <a:latin typeface="Cambria"/>
              </a:rPr>
              <a:t>Classifier Parameters (log-scale feel via labels)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</c:v>
                </c:pt>
              </c:strCache>
            </c:strRef>
          </c:tx>
          <c:spPr>
            <a:solidFill>
              <a:srgbClr val="0A1F3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5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RMS</c:v>
                </c:pt>
                <c:pt idx="1">
                  <c:v>Spectral</c:v>
                </c:pt>
                <c:pt idx="2">
                  <c:v>FFT</c:v>
                </c:pt>
                <c:pt idx="3">
                  <c:v>Raw Signal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2660</c:v>
                </c:pt>
                <c:pt idx="1">
                  <c:v>3044</c:v>
                </c:pt>
                <c:pt idx="2">
                  <c:v>5348</c:v>
                </c:pt>
                <c:pt idx="3">
                  <c:v>51428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82-48CE-86A0-A7F8DCC787B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</c:v>
                </c:pt>
              </c:strCache>
            </c:strRef>
          </c:tx>
          <c:spPr>
            <a:solidFill>
              <a:srgbClr val="0090A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620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Standard</c:v>
                </c:pt>
                <c:pt idx="1">
                  <c:v>Depthwise</c:v>
                </c:pt>
                <c:pt idx="2">
                  <c:v>RMS Tiny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25.37</c:v>
                </c:pt>
                <c:pt idx="1">
                  <c:v>16.88</c:v>
                </c:pt>
                <c:pt idx="2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57-4B2B-95EB-2F09D6882AE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0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5F8FA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2406B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00C2D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· IMU GESTURE RECOGNITION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59" y="1874520"/>
            <a:ext cx="11017587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TinyML Compression and Feature Engineering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Real-Time IMU Gesture Recognition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Arduino Nano 33 BLE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4389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Mohammadreza Zamani</a:t>
            </a:r>
            <a:r>
              <a:rPr lang="en-US" sz="14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Erasmus 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Asal Abbas Nejad Fard</a:t>
            </a:r>
            <a:r>
              <a:rPr lang="en-US" sz="14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Erasmus Student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C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di Trento · Trento, Italy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5989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6446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37560" y="5989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0.165 ms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337560" y="6446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852160" y="5989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52160" y="6446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366760" y="598932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3.41 KB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66760" y="644652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TinyML for gesture recognition?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neural networks on microcontrollers means balancing accuracy against memory, energy, and latency — and physical hardware measurements, not simulations, are what actually prove a design works.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1821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limits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34930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33 BLE offers only kilobytes of Flash and RAM — every parameter and MAC counts.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455371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4553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44165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constraint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417320" y="472744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prediction must run continuously on-device, with no cloud round-trip.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  <a:effectLst>
            <a:outerShdw blurRad="76200" dist="25400" dir="5400000" algn="bl" rotWithShape="0">
              <a:srgbClr val="0A1F3D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5788152"/>
            <a:ext cx="502920" cy="502920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57881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56509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open levers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596188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network itself, or re-express the input signal — this work tests both, controlled and combined.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46520" y="1417320"/>
            <a:ext cx="5212080" cy="4892040"/>
          </a:xfrm>
          <a:prstGeom prst="roundRect">
            <a:avLst>
              <a:gd name="adj" fmla="val 1869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GESTURE CLASSES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766560" y="214884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903720" y="21488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◯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72400" y="22768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Circle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72400" y="2606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0  ·  80 windows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20040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903720" y="32004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772400" y="33284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/ Right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0" y="3657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 ·  80 windows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766560" y="425196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425196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0" y="437997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 ·  80 windows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66560" y="5303520"/>
            <a:ext cx="4572000" cy="914400"/>
          </a:xfrm>
          <a:prstGeom prst="roundRect">
            <a:avLst>
              <a:gd name="adj" fmla="val 7000"/>
            </a:avLst>
          </a:prstGeom>
          <a:solidFill>
            <a:srgbClr val="12406B">
              <a:alpha val="6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03720" y="53035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↕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772400" y="543153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/ Down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77240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 ·  80 windows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IMU signal to on-device prediction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12164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12164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6-Axis IMU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aY aZ · gX gY gZ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70632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34156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34156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862072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128-Sample Window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62072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6 = 768 values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6592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92624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56148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56148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84064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084064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Train-only normalization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58584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214616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9050">
            <a:solidFill>
              <a:srgbClr val="E0E6EC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78140" y="2331720"/>
            <a:ext cx="438912" cy="438912"/>
          </a:xfrm>
          <a:prstGeom prst="ellipse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78140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06056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 TinyML Model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06056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inference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80576" y="260604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36608" y="2148840"/>
            <a:ext cx="1965960" cy="1417320"/>
          </a:xfrm>
          <a:prstGeom prst="roundRect">
            <a:avLst>
              <a:gd name="adj" fmla="val 5806"/>
            </a:avLst>
          </a:prstGeom>
          <a:solidFill>
            <a:srgbClr val="0A1F3D"/>
          </a:solidFill>
          <a:ln w="19050">
            <a:solidFill>
              <a:srgbClr val="0A1F3D"/>
            </a:solidFill>
            <a:prstDash val="solid"/>
          </a:ln>
          <a:effectLst>
            <a:outerShdw blurRad="101600" dist="25400" dir="5400000" algn="bl" rotWithShape="0">
              <a:srgbClr val="0A1F3D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0200132" y="2331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200132" y="23317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28048" y="2862072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Gesture Prediction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28048" y="32004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output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9776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OPTIMIZATION STRATEGIES EVALUATED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4389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Neural-Network Compression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22960" y="5257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vs Depthwise-separable CNNs, in FP32 and INT8, on the raw 128×6 IMU window.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80760" y="43891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5508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8463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355080" y="52578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RMS, FFT, and Spectral representations, all fed to the same controlled Dense classifier.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train / validation / test split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331720" y="1508760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windows total (80 per class)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496312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× 6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331720" y="2496312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× channels per window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483864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2331720" y="3483864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values per window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5074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471416"/>
            <a:ext cx="1554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10 / 10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331720" y="4471416"/>
            <a:ext cx="3108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split, train-only normalization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8932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SPLIT (256 / 32 / 32 WINDOWS)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989320" y="1737360"/>
          <a:ext cx="55778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989320" y="4617720"/>
            <a:ext cx="5577840" cy="1508760"/>
          </a:xfrm>
          <a:prstGeom prst="roundRect">
            <a:avLst>
              <a:gd name="adj" fmla="val 4848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63640" y="47731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train-only normalization matters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63640" y="5102352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std are estimated only from the training windows, then applied unchanged to validation and test — preventing evaluation information from leaking into the pipeline.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NEURAL-NETWORK COMPRESSION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CNN vs. Depthwise-Separable CNN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operate directly on the normalized 128×6 raw IMU window, with identical train/val/test partitions — only the convolution type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212080" cy="640080"/>
          </a:xfrm>
          <a:prstGeom prst="rect">
            <a:avLst/>
          </a:prstGeom>
          <a:solidFill>
            <a:srgbClr val="1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124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CNN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05840" y="288036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Conv1D(16, k=5)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26080" y="3282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4107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41071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MaxPooling1D(2)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26080" y="3813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5840" y="394106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Conv1D(32, k=3)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0" y="4343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714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4471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26080" y="4873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" y="50017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5840" y="50017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Dense(4)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22960" y="5623560"/>
            <a:ext cx="4663440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2,660 params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0040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24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160,320 MACs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989320" y="201168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2011680"/>
            <a:ext cx="5212080" cy="640080"/>
          </a:xfrm>
          <a:prstGeom prst="rect">
            <a:avLst/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989320" y="2011680"/>
            <a:ext cx="5212080" cy="640080"/>
          </a:xfrm>
          <a:prstGeom prst="roundRect">
            <a:avLst>
              <a:gd name="adj" fmla="val 14286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01168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Depthwise CNN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63640" y="288036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2880360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SeparableConv1D(16, k=5)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328269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34107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46520" y="3410712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MaxPooling1D(2)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66760" y="38130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63640" y="39410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46520" y="3941064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SeparableConv1D(32, k=3)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43434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44714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446520" y="4471416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GlobalAveragePooling1D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366760" y="48737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63640" y="50017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46520" y="5001768"/>
            <a:ext cx="4297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Dense(16) → Dense(4)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63640" y="5623560"/>
            <a:ext cx="4663440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6364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1,330 params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8641080" y="5715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52,544 MACs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Compression cuts compute — accuracy holds at 100%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577840" cy="237744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MACs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(KB)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160,320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52,544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023360"/>
            <a:ext cx="5577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convolutions cut parameters by </a:t>
            </a: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neural-network MACs by </a:t>
            </a:r>
            <a:r>
              <a:rPr lang="en-US" sz="1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~67%</a:t>
            </a: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INT8 quantization shrinks the Standard CNN from 15.12 KB to 9.80 KB — the Depthwise model's gain is smaller since TFLite metadata is a larger share of its already-compact file.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46520" y="13716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MAC COUNT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46520" y="1691640"/>
          <a:ext cx="51663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1 · PHYSICAL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real hardware — Arduino Nano 33 BLE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486400" cy="2011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CNN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 Arena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794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Depthwise CNN needs fewer params and MACs, its Flash and Tensor Arena are slightly higher — but it still cuts measured inference latency by </a:t>
            </a:r>
            <a:r>
              <a:rPr lang="en-US" sz="125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~33.5%</a:t>
            </a: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(25.37 → 16.88 ms).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309360" y="1417320"/>
          <a:ext cx="5349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smarter representation beat raw signal?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representations feed the same controlled classifier — Input → Dense(64) → Dense(32) → Dense(4) — so only the input encoding changes.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Signal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raw values from the 128×6 window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51,428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60804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60804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2011680"/>
            <a:ext cx="2624328" cy="3794760"/>
          </a:xfrm>
          <a:prstGeom prst="roundRect">
            <a:avLst>
              <a:gd name="adj" fmla="val 3136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  <a:effectLst>
            <a:outerShdw blurRad="127000" dist="38100" dir="5400000" algn="bl" rotWithShape="0">
              <a:srgbClr val="0A1F3D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47288" y="2176272"/>
            <a:ext cx="2350008" cy="292608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2176272"/>
            <a:ext cx="2350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93008" y="260604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493008" y="297180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93008" y="331927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Root-mean-square per IMU channel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93008" y="4142232"/>
            <a:ext cx="2258568" cy="0"/>
          </a:xfrm>
          <a:prstGeom prst="line">
            <a:avLst/>
          </a:prstGeom>
          <a:noFill/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93008" y="423367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93008" y="443484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2,660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622292" y="423367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22292" y="443484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71616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254496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24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8 non-DC magnitude bins / channel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54496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54496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54496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5,348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83780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83780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833104" y="2286000"/>
            <a:ext cx="2624328" cy="3520440"/>
          </a:xfrm>
          <a:prstGeom prst="roundRect">
            <a:avLst>
              <a:gd name="adj" fmla="val 3136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015984" y="2560320"/>
            <a:ext cx="2258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Spectral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015984" y="2926080"/>
            <a:ext cx="2258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features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15984" y="327355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frequency + peak PSD / channel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15984" y="4096512"/>
            <a:ext cx="2258568" cy="0"/>
          </a:xfrm>
          <a:prstGeom prst="line">
            <a:avLst/>
          </a:prstGeom>
          <a:noFill/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015984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015984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3,044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145268" y="4187952"/>
            <a:ext cx="11292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145268" y="4389120"/>
            <a:ext cx="11292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96.875%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2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RMS: same accuracy, 19× fewer parameters than raw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6304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BY REPRESENTATION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55080" y="1828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818120" y="182880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 in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0" y="191109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686800" y="191109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561320" y="182880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3774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18120" y="237744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86800" y="245973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686800" y="245973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561320" y="237744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355080" y="29260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818120" y="29260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86800" y="300837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8686800" y="300837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561320" y="292608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100.000%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355080" y="3474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818120" y="347472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686800" y="3557016"/>
            <a:ext cx="1783080" cy="201168"/>
          </a:xfrm>
          <a:prstGeom prst="roundRect">
            <a:avLst>
              <a:gd name="adj" fmla="val 18182"/>
            </a:avLst>
          </a:prstGeom>
          <a:solidFill>
            <a:srgbClr val="E0E6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8686800" y="3557016"/>
            <a:ext cx="1727359" cy="201168"/>
          </a:xfrm>
          <a:prstGeom prst="roundRect">
            <a:avLst>
              <a:gd name="adj" fmla="val 18182"/>
            </a:avLst>
          </a:prstGeom>
          <a:solidFill>
            <a:srgbClr val="B039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10561320" y="347472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96.875%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355080" y="4160520"/>
            <a:ext cx="5303520" cy="1737360"/>
          </a:xfrm>
          <a:prstGeom prst="roundRect">
            <a:avLst>
              <a:gd name="adj" fmla="val 4737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583680" y="43159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583680" y="4590288"/>
            <a:ext cx="4846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reduces the input from 768 raw values to just 6 features and the classifier from 51,428 to 2,660 parameters — with zero accuracy loss. Spectral compresses too far, losing information useful for classification.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RMS Tiny INT8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after the controlled Study-2 comparison as the most efficient representation achieving 100% test accuracy.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RMS Features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26243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Dense(16), ReLU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344728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12406B">
              <a:alpha val="7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Dense(8), ReLU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27024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4206240" cy="685800"/>
          </a:xfrm>
          <a:prstGeom prst="roundRect">
            <a:avLst>
              <a:gd name="adj" fmla="val 10667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434840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Softmax(4)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RMS𝑐 = √( (1/N) Σ xᶜ[n]² ),   N = 128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0" y="196596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2148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21208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83880" y="196596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83880" y="214884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183880" y="283464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212080" y="352044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212080" y="37033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212080" y="4389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MACs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83880" y="352044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183880" y="37033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3.414 KB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183880" y="438912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TFLite Size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12080" y="507492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2080" y="52578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100.000%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212080" y="59436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83880" y="5074920"/>
            <a:ext cx="2788920" cy="1371600"/>
          </a:xfrm>
          <a:prstGeom prst="roundRect">
            <a:avLst>
              <a:gd name="adj" fmla="val 6000"/>
            </a:avLst>
          </a:prstGeom>
          <a:solidFill>
            <a:srgbClr val="12406B">
              <a:alpha val="70000"/>
            </a:srgbClr>
          </a:solidFill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183880" y="525780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183880" y="59436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COMPARISON · PHYSICAL 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 Tiny INT8 vs. the two CNN baselines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98080" cy="19202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(B)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Arena (B)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Inf.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194,408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25.370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Depthwise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205,424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18.330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Tiny INT8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165,960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1F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1323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99.35%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NN inference latency vs. Standard CNN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01752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18211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98.11%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18211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total processing time vs. Depthwise CNN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0" y="3703320"/>
            <a:ext cx="2331720" cy="1691640"/>
          </a:xfrm>
          <a:prstGeom prst="roundRect">
            <a:avLst>
              <a:gd name="adj" fmla="val 4865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9"/>
          <p:cNvSpPr/>
          <p:nvPr/>
        </p:nvSpPr>
        <p:spPr>
          <a:xfrm>
            <a:off x="5650992" y="3840480"/>
            <a:ext cx="20025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948 B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50992" y="4370832"/>
            <a:ext cx="200253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 Arena — down from 6,644 / 7,156 B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LATENCY (ms)</a:t>
            </a:r>
            <a:endParaRPr lang="en-US" sz="10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8229600" y="1691640"/>
          <a:ext cx="33832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100% accuracy an artifact of the split?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checks were run to see whether strong test performance could be explained by data leakage rather than genuine class separability.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2404872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duplicate leakage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578608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exact-duplicate IMU windows found across train / validation / test partitions.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55848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3611880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9808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3474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blocked split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785616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stricter 60/20/20 blocked split (no random shuffling within class) was evaluated as a supplementary check.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62856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9808" y="4818888"/>
            <a:ext cx="502920" cy="502920"/>
          </a:xfrm>
          <a:prstGeom prst="ellipse">
            <a:avLst/>
          </a:prstGeom>
          <a:solidFill>
            <a:srgbClr val="E6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9808" y="48188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90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68172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1-NN baseline agrees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992624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1-nearest-neighbor raw-signal baseline also reaches 100% under the blocked split — not just the neural model.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148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80/10/10  vs.  BLOCKED 60/20/20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468880"/>
          <a:ext cx="5120640" cy="10972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Acc.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(pp)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1-NN Raw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 Tiny FP32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6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6446520" y="3931920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72084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20840" y="4407408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blocked experiment is descriptive, not a strict isolation test — it also reduces the training fraction from 80% to 60%. Results should be read as a consistency check, not final proof of generalization. Larger datasets and multiple users are needed to confirm real-world robustness.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just simulation — real hardware, real measurements</a:t>
            </a:r>
            <a:endParaRPr lang="en-US" sz="3000" dirty="0"/>
          </a:p>
        </p:txBody>
      </p:sp>
      <p:pic>
        <p:nvPicPr>
          <p:cNvPr id="4" name="Image 0" descr="hardware_setup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521208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08760"/>
            <a:ext cx="5212080" cy="4434840"/>
          </a:xfrm>
          <a:prstGeom prst="roundRect">
            <a:avLst>
              <a:gd name="adj" fmla="val 1237"/>
            </a:avLst>
          </a:prstGeom>
          <a:ln w="1905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8640" y="60350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Nano 33 BLE running the Depthwise CNN INT8 classifier via TensorFlow Lite Micro, connected to a host laptop for benchmarking.</a:t>
            </a:r>
            <a:endParaRPr lang="en-US" sz="1000" dirty="0"/>
          </a:p>
        </p:txBody>
      </p:sp>
      <p:pic>
        <p:nvPicPr>
          <p:cNvPr id="7" name="Image 1" descr="standard_cnn_fp32_confus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0760" y="1508760"/>
            <a:ext cx="5532120" cy="41605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80760" y="571500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 FP32 — perfect diagonal (8/8) on every gesture class in the fixed 32-window test set.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2406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beat network compression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strategies helped —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 CNN</a:t>
            </a: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 MACs by ~67% and latency by ~33.5% — but </a:t>
            </a:r>
            <a:r>
              <a:rPr lang="en-US" sz="14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 feature engineering</a:t>
            </a:r>
            <a:r>
              <a:rPr lang="en-US" sz="14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delivered the largest overall gain: compressing 768 raw values to 6 features with zero accuracy loss.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5146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RMS Tiny INT8 model runs in 0.165 ms per inference — 99%+ faster than both CNN baselines, on the same hardware.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2918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100% accuracy holds on the current 32-window test set; larger, multi-user datasets are needed to confirm broader generalization.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00C2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0690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and energy consumption were not directly measured — a natural next step alongside latency and memory.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12080"/>
            <a:ext cx="11064240" cy="0"/>
          </a:xfrm>
          <a:prstGeom prst="line">
            <a:avLst/>
          </a:prstGeom>
          <a:noFill/>
          <a:ln w="12700">
            <a:solidFill>
              <a:srgbClr val="2A4E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61488" y="54406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761488" y="5897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MACs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74336" y="54406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3.41 KB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74336" y="5897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87184" y="54406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0.165 ms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87184" y="5897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400032" y="544068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400032" y="5897880"/>
            <a:ext cx="22128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Zamani &amp; Abbas Nejad Fard · Università di Trento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Cited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L. L. Custode, P. Farina, E. Yildiz, R. B. Kilic, K. S. Yildirim, G. Iacca. "Fast-Inf: Ultra-Fast Embedded Intelligence on the Batteryless Edge." Proc. 22nd ACM Conf. on Embedded Networked Sensor Systems (SenSys '24), ACM, 2024, pp. 239–252.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45059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I. Fodor, R. Lorenzon, G. Pin, S. Antonello, K. S. Yildirim. "Embedded-AI Based Fault Detection in Domestic Dishwashers: A Tale of On-Device Time Series Deep Classification." IFAC-PapersOnLine, vol. 59, no. 26, 2025, pp. 371–376.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34670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3346704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M. A. Hasanpour, M. Kirkegaard, X. Fafoutis. "EdgeMark: An Automation and Benchmarking System for Embedded Artificial Intelligence Tools." Journal of Systems Architecture, vol. 167, 2025, art. 103488.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24281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242816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I. Hossan, Mst. N. J. Mary, M. A. Motin. "TinyHAR-Net: Design and Implementation of a TinyML-Based Human Activity Recognition Framework on STM32." IEEE Embedded Systems Letters, 2025.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513892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5F8FA"/>
          </a:solidFill>
          <a:ln w="12700">
            <a:solidFill>
              <a:srgbClr val="E0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5138928"/>
            <a:ext cx="10424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H. Zhou, X. Zhang, Y. Feng, T. Zhang, L. Xiong. "Efficient Human Activity Recognition on Edge Devices Using DeepConv LSTM Architectures." Scientific Reports, vol. 15, 2025, art. 13830.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144768"/>
            <a:ext cx="11064240" cy="566928"/>
          </a:xfrm>
          <a:prstGeom prst="roundRect">
            <a:avLst>
              <a:gd name="adj" fmla="val 11290"/>
            </a:avLst>
          </a:prstGeom>
          <a:solidFill>
            <a:srgbClr val="0A1F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61447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datasets, and deployment files:  </a:t>
            </a:r>
            <a:r>
              <a:rPr lang="en-US" sz="11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github.com/mrzamaniiii/TinyML-Compression-Benchmark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1724</Words>
  <Application>Microsoft Office PowerPoint</Application>
  <PresentationFormat>Widescreen</PresentationFormat>
  <Paragraphs>345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Asal Abbas Nejad Fard</cp:lastModifiedBy>
  <cp:revision>2</cp:revision>
  <dcterms:created xsi:type="dcterms:W3CDTF">2026-09-04T11:09:33Z</dcterms:created>
  <dcterms:modified xsi:type="dcterms:W3CDTF">2026-09-04T13:44:41Z</dcterms:modified>
</cp:coreProperties>
</file>