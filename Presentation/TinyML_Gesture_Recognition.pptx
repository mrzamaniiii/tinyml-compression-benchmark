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rts/chart1.xml" ContentType="application/vnd.openxmlformats-officedocument.drawingml.chart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rts/chart2.xml" ContentType="application/vnd.openxmlformats-officedocument.drawingml.chart+xml"/>
  <Override PartName="/ppt/notesSlides/notesSlide7.xml" ContentType="application/vnd.openxmlformats-officedocument.presentationml.notesSlide+xml"/>
  <Override PartName="/ppt/charts/chart3.xml" ContentType="application/vnd.openxmlformats-officedocument.drawingml.char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rts/chart4.xml" ContentType="application/vnd.openxmlformats-officedocument.drawingml.chart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charts/chart5.xml" ContentType="application/vnd.openxmlformats-officedocument.drawingml.chart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0000000-0000-0000-0000-000000000000}" v="207" dt="2026-09-07T13:35:35.00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5/10/relationships/revisionInfo" Target="revisionInfo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Windows</c:v>
                </c:pt>
              </c:strCache>
            </c:strRef>
          </c:tx>
          <c:spPr>
            <a:solidFill>
              <a:srgbClr val="0A1F3D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1" i="0" u="none" strike="noStrike">
                    <a:solidFill>
                      <a:srgbClr val="16202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Training</c:v>
                </c:pt>
                <c:pt idx="1">
                  <c:v>Validation</c:v>
                </c:pt>
                <c:pt idx="2">
                  <c:v>Test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256</c:v>
                </c:pt>
                <c:pt idx="1">
                  <c:v>32</c:v>
                </c:pt>
                <c:pt idx="2">
                  <c:v>32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A6D-403C-A711-8458BFE45553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6202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crossAx val="2094734554"/>
        <c:crosses val="autoZero"/>
        <c:crossBetween val="between"/>
      </c:valAx>
      <c:spPr>
        <a:solidFill>
          <a:srgbClr val="F5F8FA"/>
        </a:solidFill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MACs</c:v>
                </c:pt>
              </c:strCache>
            </c:strRef>
          </c:tx>
          <c:spPr>
            <a:solidFill>
              <a:srgbClr val="0A1F3D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300" b="1" i="0" u="none" strike="noStrike">
                    <a:solidFill>
                      <a:srgbClr val="16202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Standard CNN</c:v>
                </c:pt>
                <c:pt idx="1">
                  <c:v>Depthwise CNN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160320</c:v>
                </c:pt>
                <c:pt idx="1">
                  <c:v>52544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0C7-4CE7-AEF2-6F24732AA47B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55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16202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solidFill>
          <a:srgbClr val="F5F8FA"/>
        </a:solidFill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300" b="1" i="0" u="none" strike="noStrike">
                <a:solidFill>
                  <a:srgbClr val="16202B"/>
                </a:solidFill>
                <a:latin typeface="Cambria"/>
              </a:defRPr>
            </a:pPr>
            <a:r>
              <a:rPr lang="en-US" sz="1300" b="1" i="0" u="none" strike="noStrike">
                <a:solidFill>
                  <a:srgbClr val="16202B"/>
                </a:solidFill>
                <a:latin typeface="Cambria"/>
              </a:rPr>
              <a:t>Arduino Inference Latency (ms)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Inference latency</c:v>
                </c:pt>
              </c:strCache>
            </c:strRef>
          </c:tx>
          <c:spPr>
            <a:solidFill>
              <a:srgbClr val="0090A0"/>
            </a:solidFill>
            <a:effectLst/>
          </c:spPr>
          <c:invertIfNegative val="0"/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400" b="1" i="0" u="none" strike="noStrike">
                    <a:solidFill>
                      <a:srgbClr val="16202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Standard CNN
INT8</c:v>
                </c:pt>
                <c:pt idx="1">
                  <c:v>Depthwise CNN
INT8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25.37</c:v>
                </c:pt>
                <c:pt idx="1">
                  <c:v>16.88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F60-4A7A-8EA8-D74CBCD3085C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55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6202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solidFill>
          <a:srgbClr val="F5F8FA"/>
        </a:solidFill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250" b="1" i="0" u="none" strike="noStrike">
                <a:solidFill>
                  <a:srgbClr val="16202B"/>
                </a:solidFill>
                <a:latin typeface="Cambria"/>
              </a:defRPr>
            </a:pPr>
            <a:r>
              <a:rPr lang="en-US" sz="1250" b="1" i="0" u="none" strike="noStrike">
                <a:solidFill>
                  <a:srgbClr val="16202B"/>
                </a:solidFill>
                <a:latin typeface="Cambria"/>
              </a:rPr>
              <a:t>Classifier Parameters (log-scale feel via labels)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Parameters</c:v>
                </c:pt>
              </c:strCache>
            </c:strRef>
          </c:tx>
          <c:spPr>
            <a:solidFill>
              <a:srgbClr val="0A1F3D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50" b="1" i="0" u="none" strike="noStrike">
                    <a:solidFill>
                      <a:srgbClr val="16202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RMS</c:v>
                </c:pt>
                <c:pt idx="1">
                  <c:v>Spectral</c:v>
                </c:pt>
                <c:pt idx="2">
                  <c:v>FFT</c:v>
                </c:pt>
                <c:pt idx="3">
                  <c:v>Raw Signal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2660</c:v>
                </c:pt>
                <c:pt idx="1">
                  <c:v>3044</c:v>
                </c:pt>
                <c:pt idx="2">
                  <c:v>5348</c:v>
                </c:pt>
                <c:pt idx="3">
                  <c:v>51428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582-48CE-86A0-A7F8DCC787B9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6202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crossAx val="2094734554"/>
        <c:crosses val="autoZero"/>
        <c:crossBetween val="between"/>
      </c:valAx>
      <c:spPr>
        <a:solidFill>
          <a:srgbClr val="F5F8FA"/>
        </a:solidFill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Latency</c:v>
                </c:pt>
              </c:strCache>
            </c:strRef>
          </c:tx>
          <c:spPr>
            <a:solidFill>
              <a:srgbClr val="0090A0"/>
            </a:solidFill>
            <a:effectLst/>
          </c:spPr>
          <c:invertIfNegative val="0"/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1" i="0" u="none" strike="noStrike">
                    <a:solidFill>
                      <a:srgbClr val="16202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Standard</c:v>
                </c:pt>
                <c:pt idx="1">
                  <c:v>Depthwise</c:v>
                </c:pt>
                <c:pt idx="2">
                  <c:v>RMS Tiny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25.37</c:v>
                </c:pt>
                <c:pt idx="1">
                  <c:v>16.88</c:v>
                </c:pt>
                <c:pt idx="2">
                  <c:v>0.16500000000000001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157-4B2B-95EB-2F09D6882AE2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35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16202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solidFill>
          <a:srgbClr val="F5F8FA"/>
        </a:solidFill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4557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F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1F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9966960" y="-1463040"/>
            <a:ext cx="4754880" cy="4754880"/>
          </a:xfrm>
          <a:prstGeom prst="ellipse">
            <a:avLst/>
          </a:prstGeom>
          <a:solidFill>
            <a:srgbClr val="12406B">
              <a:alpha val="4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10607040" y="-548640"/>
            <a:ext cx="2926080" cy="2926080"/>
          </a:xfrm>
          <a:prstGeom prst="ellipse">
            <a:avLst/>
          </a:prstGeom>
          <a:solidFill>
            <a:srgbClr val="00C2D1">
              <a:alpha val="1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22960" y="141732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00C2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TinyML · IMU GESTURE RECOGNITION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22959" y="1874520"/>
            <a:ext cx="11017587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44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TinyML Compression and Feature Engineering</a:t>
            </a:r>
            <a:endParaRPr lang="en-US" sz="3800" dirty="0"/>
          </a:p>
          <a:p>
            <a:pPr marL="0" indent="0">
              <a:lnSpc>
                <a:spcPts val="44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 Real-Time IMU Gesture Recognition</a:t>
            </a:r>
            <a:endParaRPr lang="en-US" sz="3800" dirty="0"/>
          </a:p>
          <a:p>
            <a:pPr marL="0" indent="0">
              <a:lnSpc>
                <a:spcPts val="44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 Arduino Nano 33 BLE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822960" y="438912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Mohammadreza Zamani</a:t>
            </a:r>
            <a:r>
              <a:rPr lang="en-US" sz="1400" dirty="0">
                <a:solidFill>
                  <a:srgbClr val="9FB2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Erasmus Student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475488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Asal Abbas Nejad Fard</a:t>
            </a:r>
            <a:r>
              <a:rPr lang="en-US" sz="1400" dirty="0">
                <a:solidFill>
                  <a:srgbClr val="9FB2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Erasmus Student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22960" y="525780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7C9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Università di Trento · Trento, Italy</a:t>
            </a:r>
            <a:endParaRPr lang="en-US" sz="1250" dirty="0"/>
          </a:p>
        </p:txBody>
      </p:sp>
      <p:sp>
        <p:nvSpPr>
          <p:cNvPr id="18" name="Text 7">
            <a:extLst>
              <a:ext uri="{FF2B5EF4-FFF2-40B4-BE49-F238E27FC236}">
                <a16:creationId xmlns:a16="http://schemas.microsoft.com/office/drawing/2014/main" id="{72F7D360-0F81-A6F7-CB81-09A46EBF3C17}"/>
              </a:ext>
            </a:extLst>
          </p:cNvPr>
          <p:cNvSpPr/>
          <p:nvPr/>
        </p:nvSpPr>
        <p:spPr>
          <a:xfrm>
            <a:off x="822960" y="5572760"/>
            <a:ext cx="9144000" cy="32004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sz="1250" i="1" dirty="0">
                <a:solidFill>
                  <a:srgbClr val="7C90A6"/>
                </a:solidFill>
                <a:latin typeface="Calibri"/>
                <a:ea typeface="Calibri"/>
                <a:cs typeface="Calibri"/>
              </a:rPr>
              <a:t>September 2026</a:t>
            </a:r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9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20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TinyML for gesture recognition?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5486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en-US" sz="14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Deploying neural networks on microcontrollers means balancing accuracy against memory, energy, and latency — and physical hardware measurements, not simulations, are what actually prove a design works.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3063240"/>
            <a:ext cx="548640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E0E6EC"/>
            </a:solidFill>
            <a:prstDash val="solid"/>
          </a:ln>
          <a:effectLst>
            <a:outerShdw blurRad="76200" dist="25400" dir="5400000" algn="bl" rotWithShape="0">
              <a:srgbClr val="0A1F3D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749808" y="3319272"/>
            <a:ext cx="502920" cy="502920"/>
          </a:xfrm>
          <a:prstGeom prst="ellipse">
            <a:avLst/>
          </a:prstGeom>
          <a:solidFill>
            <a:srgbClr val="0A1F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49808" y="331927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C2D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417320" y="3182112"/>
            <a:ext cx="4480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620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Resource limits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1417320" y="3493008"/>
            <a:ext cx="4480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Arduino Nano 33 BLE offers only kilobytes of Flash and RAM — every parameter and MAC counts.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48640" y="4297680"/>
            <a:ext cx="548640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E0E6EC"/>
            </a:solidFill>
            <a:prstDash val="solid"/>
          </a:ln>
          <a:effectLst>
            <a:outerShdw blurRad="76200" dist="25400" dir="5400000" algn="bl" rotWithShape="0">
              <a:srgbClr val="0A1F3D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749808" y="4553712"/>
            <a:ext cx="502920" cy="502920"/>
          </a:xfrm>
          <a:prstGeom prst="ellipse">
            <a:avLst/>
          </a:prstGeom>
          <a:solidFill>
            <a:srgbClr val="0A1F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749808" y="455371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C2D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417320" y="4416552"/>
            <a:ext cx="4480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620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Real-time constraint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1417320" y="4727448"/>
            <a:ext cx="4480560" cy="54864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Gesture prediction must run continuously on-device.</a:t>
            </a:r>
            <a:endParaRPr lang="en-US" sz="1150" dirty="0">
              <a:latin typeface="Calibri"/>
              <a:ea typeface="Calibri"/>
              <a:cs typeface="Calibri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548640" y="5532120"/>
            <a:ext cx="548640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E0E6EC"/>
            </a:solidFill>
            <a:prstDash val="solid"/>
          </a:ln>
          <a:effectLst>
            <a:outerShdw blurRad="76200" dist="25400" dir="5400000" algn="bl" rotWithShape="0">
              <a:srgbClr val="0A1F3D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749808" y="5788152"/>
            <a:ext cx="502920" cy="502920"/>
          </a:xfrm>
          <a:prstGeom prst="ellipse">
            <a:avLst/>
          </a:prstGeom>
          <a:solidFill>
            <a:srgbClr val="0A1F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749808" y="578815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C2D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417320" y="5650992"/>
            <a:ext cx="4480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620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open levers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1417320" y="5961888"/>
            <a:ext cx="4480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Compress the network itself, or re-express the input signal — this work tests both, controlled and combined.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446520" y="1417320"/>
            <a:ext cx="5212080" cy="4892040"/>
          </a:xfrm>
          <a:prstGeom prst="roundRect">
            <a:avLst>
              <a:gd name="adj" fmla="val 1869"/>
            </a:avLst>
          </a:prstGeom>
          <a:solidFill>
            <a:srgbClr val="0A1F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6766560" y="16916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kern="0" spc="200" dirty="0">
                <a:solidFill>
                  <a:srgbClr val="00C2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GESTURE CLASSES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6766560" y="2148840"/>
            <a:ext cx="4572000" cy="914400"/>
          </a:xfrm>
          <a:prstGeom prst="roundRect">
            <a:avLst>
              <a:gd name="adj" fmla="val 7000"/>
            </a:avLst>
          </a:prstGeom>
          <a:solidFill>
            <a:srgbClr val="12406B">
              <a:alpha val="60000"/>
            </a:srgbClr>
          </a:solidFill>
          <a:ln w="12700">
            <a:solidFill>
              <a:srgbClr val="2A4E7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6903720" y="2148840"/>
            <a:ext cx="822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0C2D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◯</a:t>
            </a:r>
            <a:endParaRPr lang="en-US" sz="2600" dirty="0"/>
          </a:p>
        </p:txBody>
      </p:sp>
      <p:sp>
        <p:nvSpPr>
          <p:cNvPr id="24" name="Text 22"/>
          <p:cNvSpPr/>
          <p:nvPr/>
        </p:nvSpPr>
        <p:spPr>
          <a:xfrm>
            <a:off x="7772400" y="2276856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Circle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7772400" y="260604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FB2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0  ·  80 windows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6766560" y="3200400"/>
            <a:ext cx="4572000" cy="914400"/>
          </a:xfrm>
          <a:prstGeom prst="roundRect">
            <a:avLst>
              <a:gd name="adj" fmla="val 7000"/>
            </a:avLst>
          </a:prstGeom>
          <a:solidFill>
            <a:srgbClr val="12406B">
              <a:alpha val="60000"/>
            </a:srgbClr>
          </a:solidFill>
          <a:ln w="12700">
            <a:solidFill>
              <a:srgbClr val="2A4E7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6903720" y="3200400"/>
            <a:ext cx="822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0C2D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↔</a:t>
            </a:r>
            <a:endParaRPr lang="en-US" sz="2600" dirty="0"/>
          </a:p>
        </p:txBody>
      </p:sp>
      <p:sp>
        <p:nvSpPr>
          <p:cNvPr id="28" name="Text 26"/>
          <p:cNvSpPr/>
          <p:nvPr/>
        </p:nvSpPr>
        <p:spPr>
          <a:xfrm>
            <a:off x="7772400" y="3328416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Left / Right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7772400" y="365760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FB2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1  ·  80 windows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6766560" y="4251960"/>
            <a:ext cx="4572000" cy="914400"/>
          </a:xfrm>
          <a:prstGeom prst="roundRect">
            <a:avLst>
              <a:gd name="adj" fmla="val 7000"/>
            </a:avLst>
          </a:prstGeom>
          <a:solidFill>
            <a:srgbClr val="12406B">
              <a:alpha val="60000"/>
            </a:srgbClr>
          </a:solidFill>
          <a:ln w="12700">
            <a:solidFill>
              <a:srgbClr val="2A4E7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6903720" y="4251960"/>
            <a:ext cx="822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0C2D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·</a:t>
            </a:r>
            <a:endParaRPr lang="en-US" sz="2600" dirty="0"/>
          </a:p>
        </p:txBody>
      </p:sp>
      <p:sp>
        <p:nvSpPr>
          <p:cNvPr id="32" name="Text 30"/>
          <p:cNvSpPr/>
          <p:nvPr/>
        </p:nvSpPr>
        <p:spPr>
          <a:xfrm>
            <a:off x="7772400" y="4379976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Rest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7772400" y="470916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FB2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2  ·  80 windows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6766560" y="5303520"/>
            <a:ext cx="4572000" cy="914400"/>
          </a:xfrm>
          <a:prstGeom prst="roundRect">
            <a:avLst>
              <a:gd name="adj" fmla="val 7000"/>
            </a:avLst>
          </a:prstGeom>
          <a:solidFill>
            <a:srgbClr val="12406B">
              <a:alpha val="60000"/>
            </a:srgbClr>
          </a:solidFill>
          <a:ln w="12700">
            <a:solidFill>
              <a:srgbClr val="2A4E7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6903720" y="5303520"/>
            <a:ext cx="822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0C2D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↕</a:t>
            </a:r>
            <a:endParaRPr lang="en-US" sz="2600" dirty="0"/>
          </a:p>
        </p:txBody>
      </p:sp>
      <p:sp>
        <p:nvSpPr>
          <p:cNvPr id="36" name="Text 34"/>
          <p:cNvSpPr/>
          <p:nvPr/>
        </p:nvSpPr>
        <p:spPr>
          <a:xfrm>
            <a:off x="7772400" y="5431536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Up / Down</a:t>
            </a:r>
            <a:endParaRPr lang="en-US" sz="1500" dirty="0"/>
          </a:p>
        </p:txBody>
      </p:sp>
      <p:sp>
        <p:nvSpPr>
          <p:cNvPr id="37" name="Text 35"/>
          <p:cNvSpPr/>
          <p:nvPr/>
        </p:nvSpPr>
        <p:spPr>
          <a:xfrm>
            <a:off x="7772400" y="576072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FB2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3  ·  80 windows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9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DESIGN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20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raw IMU signal to on-device prediction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148840"/>
            <a:ext cx="1965960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 w="19050">
            <a:solidFill>
              <a:srgbClr val="E0E6EC"/>
            </a:solidFill>
            <a:prstDash val="solid"/>
          </a:ln>
          <a:effectLst>
            <a:outerShdw blurRad="101600" dist="25400" dir="5400000" algn="bl" rotWithShape="0">
              <a:srgbClr val="0A1F3D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312164" y="2331720"/>
            <a:ext cx="438912" cy="438912"/>
          </a:xfrm>
          <a:prstGeom prst="ellipse">
            <a:avLst/>
          </a:prstGeom>
          <a:solidFill>
            <a:srgbClr val="0A1F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312164" y="2331720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0C2D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40080" y="2862072"/>
            <a:ext cx="1783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620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6-Axis IMU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640080" y="3200400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 aY aZ · gX gY gZ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514600" y="2606040"/>
            <a:ext cx="2560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09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2770632" y="2148840"/>
            <a:ext cx="1965960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 w="19050">
            <a:solidFill>
              <a:srgbClr val="E0E6EC"/>
            </a:solidFill>
            <a:prstDash val="solid"/>
          </a:ln>
          <a:effectLst>
            <a:outerShdw blurRad="101600" dist="25400" dir="5400000" algn="bl" rotWithShape="0">
              <a:srgbClr val="0A1F3D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3534156" y="2331720"/>
            <a:ext cx="438912" cy="438912"/>
          </a:xfrm>
          <a:prstGeom prst="ellipse">
            <a:avLst/>
          </a:prstGeom>
          <a:solidFill>
            <a:srgbClr val="0A1F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534156" y="2331720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0C2D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2862072" y="2862072"/>
            <a:ext cx="1783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620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128-Sample Window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2862072" y="3200400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128 × 6 = 768 values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736592" y="2606040"/>
            <a:ext cx="2560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09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4992624" y="2148840"/>
            <a:ext cx="1965960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 w="19050">
            <a:solidFill>
              <a:srgbClr val="E0E6EC"/>
            </a:solidFill>
            <a:prstDash val="solid"/>
          </a:ln>
          <a:effectLst>
            <a:outerShdw blurRad="101600" dist="25400" dir="5400000" algn="bl" rotWithShape="0">
              <a:srgbClr val="0A1F3D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5756148" y="2331720"/>
            <a:ext cx="438912" cy="438912"/>
          </a:xfrm>
          <a:prstGeom prst="ellipse">
            <a:avLst/>
          </a:prstGeom>
          <a:solidFill>
            <a:srgbClr val="0A1F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5756148" y="2331720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0C2D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5084064" y="2862072"/>
            <a:ext cx="1783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620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Preprocessing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5084064" y="3200400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Train-only normalization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958584" y="2606040"/>
            <a:ext cx="2560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09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22" name="Shape 20"/>
          <p:cNvSpPr/>
          <p:nvPr/>
        </p:nvSpPr>
        <p:spPr>
          <a:xfrm>
            <a:off x="7214616" y="2148840"/>
            <a:ext cx="1965960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 w="19050">
            <a:solidFill>
              <a:srgbClr val="E0E6EC"/>
            </a:solidFill>
            <a:prstDash val="solid"/>
          </a:ln>
          <a:effectLst>
            <a:outerShdw blurRad="101600" dist="25400" dir="5400000" algn="bl" rotWithShape="0">
              <a:srgbClr val="0A1F3D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7978140" y="2331720"/>
            <a:ext cx="438912" cy="438912"/>
          </a:xfrm>
          <a:prstGeom prst="ellipse">
            <a:avLst/>
          </a:prstGeom>
          <a:solidFill>
            <a:srgbClr val="0A1F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7978140" y="2331720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0C2D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7306056" y="2862072"/>
            <a:ext cx="1783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620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INT8 TinyML Model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7306056" y="3200400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Quantized inference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9180576" y="2606040"/>
            <a:ext cx="2560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09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28" name="Shape 26"/>
          <p:cNvSpPr/>
          <p:nvPr/>
        </p:nvSpPr>
        <p:spPr>
          <a:xfrm>
            <a:off x="9436608" y="2148840"/>
            <a:ext cx="1965960" cy="1417320"/>
          </a:xfrm>
          <a:prstGeom prst="roundRect">
            <a:avLst>
              <a:gd name="adj" fmla="val 5806"/>
            </a:avLst>
          </a:prstGeom>
          <a:solidFill>
            <a:srgbClr val="0A1F3D"/>
          </a:solidFill>
          <a:ln w="19050">
            <a:solidFill>
              <a:srgbClr val="0A1F3D"/>
            </a:solidFill>
            <a:prstDash val="solid"/>
          </a:ln>
          <a:effectLst>
            <a:outerShdw blurRad="101600" dist="25400" dir="5400000" algn="bl" rotWithShape="0">
              <a:srgbClr val="0A1F3D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10200132" y="2331720"/>
            <a:ext cx="438912" cy="438912"/>
          </a:xfrm>
          <a:prstGeom prst="ellipse">
            <a:avLst/>
          </a:prstGeom>
          <a:solidFill>
            <a:srgbClr val="00C2D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10200132" y="2331720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A1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9528048" y="2862072"/>
            <a:ext cx="1783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Gesture Prediction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9528048" y="3200400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FB2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4-class output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548640" y="3977640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9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OPTIMIZATION STRATEGIES EVALUATED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548640" y="4389120"/>
            <a:ext cx="5349240" cy="1737360"/>
          </a:xfrm>
          <a:prstGeom prst="roundRect">
            <a:avLst>
              <a:gd name="adj" fmla="val 4737"/>
            </a:avLst>
          </a:prstGeom>
          <a:solidFill>
            <a:srgbClr val="F5F8FA"/>
          </a:solidFill>
          <a:ln w="12700">
            <a:solidFill>
              <a:srgbClr val="E0E6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822960" y="45720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24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 1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822960" y="484632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620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Neural-Network Compression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822960" y="5257800"/>
            <a:ext cx="4846320" cy="77724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150" dirty="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Standard vs </a:t>
            </a:r>
            <a:r>
              <a:rPr lang="en-US" sz="1150" dirty="0" err="1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Depthwise</a:t>
            </a:r>
            <a:r>
              <a:rPr lang="en-US" sz="1150" dirty="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-separable CNNs, in FP32 and INT8.</a:t>
            </a:r>
            <a:endParaRPr lang="en-US" sz="1150" dirty="0">
              <a:latin typeface="Calibri"/>
              <a:ea typeface="Calibri"/>
              <a:cs typeface="Calibri"/>
            </a:endParaRPr>
          </a:p>
        </p:txBody>
      </p:sp>
      <p:sp>
        <p:nvSpPr>
          <p:cNvPr id="38" name="Shape 36"/>
          <p:cNvSpPr/>
          <p:nvPr/>
        </p:nvSpPr>
        <p:spPr>
          <a:xfrm>
            <a:off x="6080760" y="4389120"/>
            <a:ext cx="5349240" cy="1737360"/>
          </a:xfrm>
          <a:prstGeom prst="roundRect">
            <a:avLst>
              <a:gd name="adj" fmla="val 4737"/>
            </a:avLst>
          </a:prstGeom>
          <a:solidFill>
            <a:srgbClr val="F5F8FA"/>
          </a:solidFill>
          <a:ln w="12700">
            <a:solidFill>
              <a:srgbClr val="E0E6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6355080" y="45720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24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 2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6355080" y="484632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620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Feature Engineering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6355080" y="5257800"/>
            <a:ext cx="4846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1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Raw, RMS, FFT, and Spectral representations, all fed to the same controlled Dense classifier.</a:t>
            </a:r>
            <a:endParaRPr lang="en-US" sz="1150" dirty="0"/>
          </a:p>
        </p:txBody>
      </p:sp>
      <p:sp>
        <p:nvSpPr>
          <p:cNvPr id="42" name="Text 40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9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EXPERIMENTAL SETUP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20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 &amp; train / validation / test split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507492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E0E6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77240" y="1508760"/>
            <a:ext cx="155448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0A1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320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2331720" y="1508760"/>
            <a:ext cx="310896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IMU windows total (80 per class)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48640" y="2496312"/>
            <a:ext cx="507492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E0E6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777240" y="2496312"/>
            <a:ext cx="155448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0A1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128 × 6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2331720" y="2496312"/>
            <a:ext cx="310896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samples × channels per window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48640" y="3483864"/>
            <a:ext cx="507492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E0E6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777240" y="3483864"/>
            <a:ext cx="155448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0A1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768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2331720" y="3483864"/>
            <a:ext cx="310896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values per window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48640" y="4471416"/>
            <a:ext cx="507492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E0E6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777240" y="4471416"/>
            <a:ext cx="155448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0A1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80 / 10 / 10</a:t>
            </a:r>
            <a:endParaRPr lang="en-US" sz="2100" dirty="0"/>
          </a:p>
        </p:txBody>
      </p:sp>
      <p:sp>
        <p:nvSpPr>
          <p:cNvPr id="15" name="Text 13"/>
          <p:cNvSpPr/>
          <p:nvPr/>
        </p:nvSpPr>
        <p:spPr>
          <a:xfrm>
            <a:off x="2331720" y="4471416"/>
            <a:ext cx="310896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stratified split, train-only normalization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5989320" y="13716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009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SAMPLES PER SPLIT (256 / 32 / 32 WINDOWS)</a:t>
            </a:r>
            <a:endParaRPr lang="en-US" sz="1100" dirty="0"/>
          </a:p>
        </p:txBody>
      </p:sp>
      <p:graphicFrame>
        <p:nvGraphicFramePr>
          <p:cNvPr id="17" name="Chart 0"/>
          <p:cNvGraphicFramePr/>
          <p:nvPr/>
        </p:nvGraphicFramePr>
        <p:xfrm>
          <a:off x="5989320" y="1737360"/>
          <a:ext cx="557784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8" name="Shape 15"/>
          <p:cNvSpPr/>
          <p:nvPr/>
        </p:nvSpPr>
        <p:spPr>
          <a:xfrm>
            <a:off x="5989320" y="4617720"/>
            <a:ext cx="5577840" cy="1508760"/>
          </a:xfrm>
          <a:prstGeom prst="roundRect">
            <a:avLst>
              <a:gd name="adj" fmla="val 4848"/>
            </a:avLst>
          </a:prstGeom>
          <a:solidFill>
            <a:srgbClr val="0A1F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6263640" y="4773168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train-only normalization matters</a:t>
            </a:r>
            <a:endParaRPr lang="en-US" sz="1350" dirty="0"/>
          </a:p>
        </p:txBody>
      </p:sp>
      <p:sp>
        <p:nvSpPr>
          <p:cNvPr id="20" name="Text 17"/>
          <p:cNvSpPr/>
          <p:nvPr/>
        </p:nvSpPr>
        <p:spPr>
          <a:xfrm>
            <a:off x="6263640" y="5102352"/>
            <a:ext cx="5029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00" dirty="0">
                <a:solidFill>
                  <a:srgbClr val="AFC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and std are estimated only from the training windows, then applied unchanged to validation and test — preventing evaluation information from leaking into the pipeline.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9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 1 · NEURAL-NETWORK COMPRESSION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20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Standard CNN vs. Depthwise-Separable CNN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0515600" cy="4572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Both operate directly on the normalized 128×6 raw IMU window.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011680"/>
            <a:ext cx="5212080" cy="4160520"/>
          </a:xfrm>
          <a:prstGeom prst="roundRect">
            <a:avLst>
              <a:gd name="adj" fmla="val 2198"/>
            </a:avLst>
          </a:prstGeom>
          <a:solidFill>
            <a:srgbClr val="F5F8FA"/>
          </a:solidFill>
          <a:ln w="12700">
            <a:solidFill>
              <a:srgbClr val="E0E6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548640" y="2011680"/>
            <a:ext cx="5212080" cy="640080"/>
          </a:xfrm>
          <a:prstGeom prst="rect">
            <a:avLst/>
          </a:prstGeom>
          <a:solidFill>
            <a:srgbClr val="12406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548640" y="2011680"/>
            <a:ext cx="5212080" cy="640080"/>
          </a:xfrm>
          <a:prstGeom prst="roundRect">
            <a:avLst>
              <a:gd name="adj" fmla="val 14286"/>
            </a:avLst>
          </a:prstGeom>
          <a:solidFill>
            <a:srgbClr val="12406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777240" y="2011680"/>
            <a:ext cx="4754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Standard CNN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822960" y="2880360"/>
            <a:ext cx="4663440" cy="438912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E0E6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005840" y="2880360"/>
            <a:ext cx="42976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Conv1D(16, k=5)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2926080" y="3282696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822960" y="3410712"/>
            <a:ext cx="4663440" cy="438912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E0E6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1005840" y="3410712"/>
            <a:ext cx="42976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MaxPooling1D(2)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2926080" y="3813048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822960" y="3941064"/>
            <a:ext cx="4663440" cy="438912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E0E6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1005840" y="3941064"/>
            <a:ext cx="42976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Conv1D(32, k=3)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2926080" y="4343400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822960" y="4471416"/>
            <a:ext cx="4663440" cy="438912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E0E6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1005840" y="4471416"/>
            <a:ext cx="42976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GlobalAveragePooling1D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2926080" y="4873752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822960" y="5001768"/>
            <a:ext cx="4663440" cy="438912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E0E6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1005840" y="5001768"/>
            <a:ext cx="42976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Dense(16) → Dense(4)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822960" y="5623560"/>
            <a:ext cx="4663440" cy="0"/>
          </a:xfrm>
          <a:prstGeom prst="line">
            <a:avLst/>
          </a:prstGeom>
          <a:noFill/>
          <a:ln w="12700">
            <a:solidFill>
              <a:srgbClr val="E0E6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822960" y="571500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240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2,660 params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3200400" y="571500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500" b="1" dirty="0">
                <a:solidFill>
                  <a:srgbClr val="1240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160,320 MACs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5989320" y="2011680"/>
            <a:ext cx="5212080" cy="4160520"/>
          </a:xfrm>
          <a:prstGeom prst="roundRect">
            <a:avLst>
              <a:gd name="adj" fmla="val 2198"/>
            </a:avLst>
          </a:prstGeom>
          <a:solidFill>
            <a:srgbClr val="F5F8FA"/>
          </a:solidFill>
          <a:ln w="12700">
            <a:solidFill>
              <a:srgbClr val="E0E6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5989320" y="2011680"/>
            <a:ext cx="5212080" cy="640080"/>
          </a:xfrm>
          <a:prstGeom prst="rect">
            <a:avLst/>
          </a:prstGeom>
          <a:solidFill>
            <a:srgbClr val="0A1F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5989320" y="2011680"/>
            <a:ext cx="5212080" cy="640080"/>
          </a:xfrm>
          <a:prstGeom prst="roundRect">
            <a:avLst>
              <a:gd name="adj" fmla="val 14286"/>
            </a:avLst>
          </a:prstGeom>
          <a:solidFill>
            <a:srgbClr val="0A1F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6217920" y="2011680"/>
            <a:ext cx="4754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Depthwise CNN</a:t>
            </a:r>
            <a:endParaRPr lang="en-US" sz="1800" dirty="0"/>
          </a:p>
        </p:txBody>
      </p:sp>
      <p:sp>
        <p:nvSpPr>
          <p:cNvPr id="30" name="Shape 28"/>
          <p:cNvSpPr/>
          <p:nvPr/>
        </p:nvSpPr>
        <p:spPr>
          <a:xfrm>
            <a:off x="6263640" y="2880360"/>
            <a:ext cx="4663440" cy="438912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E0E6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6446520" y="2880360"/>
            <a:ext cx="42976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SeparableConv1D(16, k=5)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8366760" y="3282696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6263640" y="3410712"/>
            <a:ext cx="4663440" cy="438912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E0E6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6446520" y="3410712"/>
            <a:ext cx="42976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MaxPooling1D(2)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8366760" y="3813048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6263640" y="3941064"/>
            <a:ext cx="4663440" cy="438912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E0E6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6446520" y="3941064"/>
            <a:ext cx="42976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SeparableConv1D(32, k=3)</a:t>
            </a:r>
            <a:endParaRPr lang="en-US" sz="1150" dirty="0"/>
          </a:p>
        </p:txBody>
      </p:sp>
      <p:sp>
        <p:nvSpPr>
          <p:cNvPr id="38" name="Text 36"/>
          <p:cNvSpPr/>
          <p:nvPr/>
        </p:nvSpPr>
        <p:spPr>
          <a:xfrm>
            <a:off x="8366760" y="4343400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6263640" y="4471416"/>
            <a:ext cx="4663440" cy="438912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E0E6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6446520" y="4471416"/>
            <a:ext cx="42976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GlobalAveragePooling1D</a:t>
            </a:r>
            <a:endParaRPr lang="en-US" sz="1150" dirty="0"/>
          </a:p>
        </p:txBody>
      </p:sp>
      <p:sp>
        <p:nvSpPr>
          <p:cNvPr id="41" name="Text 39"/>
          <p:cNvSpPr/>
          <p:nvPr/>
        </p:nvSpPr>
        <p:spPr>
          <a:xfrm>
            <a:off x="8366760" y="4873752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6263640" y="5001768"/>
            <a:ext cx="4663440" cy="438912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E0E6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6446520" y="5001768"/>
            <a:ext cx="42976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Dense(16) → Dense(4)</a:t>
            </a:r>
            <a:endParaRPr lang="en-US" sz="1150" dirty="0"/>
          </a:p>
        </p:txBody>
      </p:sp>
      <p:sp>
        <p:nvSpPr>
          <p:cNvPr id="44" name="Shape 42"/>
          <p:cNvSpPr/>
          <p:nvPr/>
        </p:nvSpPr>
        <p:spPr>
          <a:xfrm>
            <a:off x="6263640" y="5623560"/>
            <a:ext cx="4663440" cy="0"/>
          </a:xfrm>
          <a:prstGeom prst="line">
            <a:avLst/>
          </a:prstGeom>
          <a:noFill/>
          <a:ln w="12700">
            <a:solidFill>
              <a:srgbClr val="E0E6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6263640" y="571500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A1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1,330 params</a:t>
            </a:r>
            <a:endParaRPr lang="en-US" sz="1500" dirty="0"/>
          </a:p>
        </p:txBody>
      </p:sp>
      <p:sp>
        <p:nvSpPr>
          <p:cNvPr id="46" name="Text 44"/>
          <p:cNvSpPr/>
          <p:nvPr/>
        </p:nvSpPr>
        <p:spPr>
          <a:xfrm>
            <a:off x="8641080" y="571500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500" b="1" dirty="0">
                <a:solidFill>
                  <a:srgbClr val="0A1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52,544 MACs</a:t>
            </a:r>
            <a:endParaRPr lang="en-US" sz="1500" dirty="0"/>
          </a:p>
        </p:txBody>
      </p:sp>
      <p:sp>
        <p:nvSpPr>
          <p:cNvPr id="47" name="Text 45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9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 1 · RESULTS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20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Compression cuts compute — accuracy holds at 100%</a:t>
            </a:r>
            <a:endParaRPr lang="en-US" sz="30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08760"/>
          <a:ext cx="5577840" cy="2377440"/>
        </p:xfrm>
        <a:graphic>
          <a:graphicData uri="http://schemas.openxmlformats.org/drawingml/2006/table">
            <a:tbl>
              <a:tblPr/>
              <a:tblGrid>
                <a:gridCol w="1965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7548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F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Params.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F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NN MACs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F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Size (KB)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F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F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16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Standard CNN FP32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6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2,660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6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160,320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6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15.12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00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16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Standard CNN INT8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6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2,660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6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160,320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6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9.80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00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16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Depthwise CNN FP32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6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1,330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6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52,544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6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10.82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00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16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Depthwise CNN INT8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6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1,330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6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52,544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6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10.13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00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4023360"/>
            <a:ext cx="5577840" cy="13716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>
              <a:lnSpc>
                <a:spcPts val="1700"/>
              </a:lnSpc>
            </a:pPr>
            <a:r>
              <a:rPr lang="en-US" sz="1200" dirty="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Depthwise convolutions cut parameters by </a:t>
            </a:r>
            <a:r>
              <a:rPr lang="en-US" sz="1200" b="1" dirty="0">
                <a:solidFill>
                  <a:srgbClr val="0A1F3D"/>
                </a:solidFill>
                <a:latin typeface="Calibri"/>
                <a:ea typeface="Calibri"/>
                <a:cs typeface="Calibri"/>
              </a:rPr>
              <a:t>50%</a:t>
            </a:r>
            <a:r>
              <a:rPr lang="en-US" sz="1200" dirty="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 and neural-network MACs by </a:t>
            </a:r>
            <a:r>
              <a:rPr lang="en-US" sz="1200" b="1" dirty="0">
                <a:solidFill>
                  <a:srgbClr val="0A1F3D"/>
                </a:solidFill>
                <a:latin typeface="Calibri"/>
                <a:ea typeface="Calibri"/>
                <a:cs typeface="Calibri"/>
              </a:rPr>
              <a:t>~67%</a:t>
            </a:r>
            <a:r>
              <a:rPr lang="en-US" sz="1200" dirty="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. INT8 quantization shrinks the Standard CNN from 15.12 KB to 9.80 KB.</a:t>
            </a:r>
            <a:endParaRPr lang="en-US" sz="1200" dirty="0">
              <a:latin typeface="Calibri"/>
              <a:ea typeface="Calibri"/>
              <a:cs typeface="Calibri"/>
            </a:endParaRPr>
          </a:p>
        </p:txBody>
      </p:sp>
      <p:sp>
        <p:nvSpPr>
          <p:cNvPr id="6" name="Text 3"/>
          <p:cNvSpPr/>
          <p:nvPr/>
        </p:nvSpPr>
        <p:spPr>
          <a:xfrm>
            <a:off x="6446520" y="137160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009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NEURAL-NETWORK MAC COUNT</a:t>
            </a:r>
            <a:endParaRPr lang="en-US" sz="11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6446520" y="1691640"/>
          <a:ext cx="5166360" cy="4206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Text 4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9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 1 · PHYSICAL DEPLOYMENT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20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Measured on real hardware — Arduino Nano 33 BLE</a:t>
            </a:r>
            <a:endParaRPr lang="en-US" sz="30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5486400" cy="2011680"/>
        </p:xfrm>
        <a:graphic>
          <a:graphicData uri="http://schemas.openxmlformats.org/drawingml/2006/table">
            <a:tbl>
              <a:tblPr/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0233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Metric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F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Standard CNN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F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Depthwise CNN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F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16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Flash (B)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6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194,408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6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205,424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16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Tensor Arena (B)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6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6,644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6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7,156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16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Inference (ms)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6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25.370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6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16.880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16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(ms)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6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26.760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6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18.330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3794760"/>
            <a:ext cx="5486400" cy="109728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250" dirty="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Although Depthwise CNN needs fewer params and MACs, its Flash and Tensor Arena are slightly higher.</a:t>
            </a:r>
            <a:endParaRPr lang="en-US" sz="1250" dirty="0"/>
          </a:p>
        </p:txBody>
      </p:sp>
      <p:graphicFrame>
        <p:nvGraphicFramePr>
          <p:cNvPr id="6" name="Chart 0"/>
          <p:cNvGraphicFramePr/>
          <p:nvPr/>
        </p:nvGraphicFramePr>
        <p:xfrm>
          <a:off x="6309360" y="1417320"/>
          <a:ext cx="5349240" cy="44805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Text 3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9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 2 · FEATURE ENGINEERING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20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Does a smarter representation beat raw signal?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0607040" cy="4572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All four representations feed the same controlled classifier — Input → Dense(64) → Dense(32) → Dense(4).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286000"/>
            <a:ext cx="2624328" cy="3520440"/>
          </a:xfrm>
          <a:prstGeom prst="roundRect">
            <a:avLst>
              <a:gd name="adj" fmla="val 3136"/>
            </a:avLst>
          </a:prstGeom>
          <a:solidFill>
            <a:srgbClr val="FFFFFF"/>
          </a:solidFill>
          <a:ln w="12700">
            <a:solidFill>
              <a:srgbClr val="E0E6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31520" y="2560320"/>
            <a:ext cx="22585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620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Raw Signal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731520" y="2926080"/>
            <a:ext cx="22585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24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768 features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31520" y="3273552"/>
            <a:ext cx="225856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raw values from the 128×6 window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731520" y="4096512"/>
            <a:ext cx="2258568" cy="0"/>
          </a:xfrm>
          <a:prstGeom prst="line">
            <a:avLst/>
          </a:prstGeom>
          <a:noFill/>
          <a:ln w="12700">
            <a:solidFill>
              <a:srgbClr val="E0E6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731520" y="4187952"/>
            <a:ext cx="112928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Params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731520" y="4389120"/>
            <a:ext cx="11292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620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51,428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860804" y="4187952"/>
            <a:ext cx="112928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860804" y="4389120"/>
            <a:ext cx="11292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90A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100.000%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3310128" y="2011680"/>
            <a:ext cx="2624328" cy="3794760"/>
          </a:xfrm>
          <a:prstGeom prst="roundRect">
            <a:avLst>
              <a:gd name="adj" fmla="val 3136"/>
            </a:avLst>
          </a:prstGeom>
          <a:solidFill>
            <a:srgbClr val="0A1F3D"/>
          </a:solidFill>
          <a:ln w="12700">
            <a:solidFill>
              <a:srgbClr val="0A1F3D"/>
            </a:solidFill>
            <a:prstDash val="solid"/>
          </a:ln>
          <a:effectLst>
            <a:outerShdw blurRad="127000" dist="38100" dir="5400000" algn="bl" rotWithShape="0">
              <a:srgbClr val="0A1F3D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3447288" y="2176272"/>
            <a:ext cx="2350008" cy="292608"/>
          </a:xfrm>
          <a:prstGeom prst="roundRect">
            <a:avLst>
              <a:gd name="adj" fmla="val 50000"/>
            </a:avLst>
          </a:prstGeom>
          <a:solidFill>
            <a:srgbClr val="00C2D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3447288" y="2176272"/>
            <a:ext cx="23500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kern="0" spc="100" dirty="0">
                <a:solidFill>
                  <a:srgbClr val="0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SELECTED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3493008" y="2606040"/>
            <a:ext cx="22585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RMS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3493008" y="2971800"/>
            <a:ext cx="22585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C2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features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493008" y="3319272"/>
            <a:ext cx="225856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00" dirty="0">
                <a:solidFill>
                  <a:srgbClr val="AFC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Root-mean-square per IMU channel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493008" y="4142232"/>
            <a:ext cx="2258568" cy="0"/>
          </a:xfrm>
          <a:prstGeom prst="line">
            <a:avLst/>
          </a:prstGeom>
          <a:noFill/>
          <a:ln w="12700">
            <a:solidFill>
              <a:srgbClr val="2A4E7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3493008" y="4233672"/>
            <a:ext cx="112928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FB2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Params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3493008" y="4434840"/>
            <a:ext cx="11292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2,660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622292" y="4233672"/>
            <a:ext cx="112928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FB2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622292" y="4434840"/>
            <a:ext cx="11292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C2D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100.000%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6071616" y="2286000"/>
            <a:ext cx="2624328" cy="3520440"/>
          </a:xfrm>
          <a:prstGeom prst="roundRect">
            <a:avLst>
              <a:gd name="adj" fmla="val 3136"/>
            </a:avLst>
          </a:prstGeom>
          <a:solidFill>
            <a:srgbClr val="FFFFFF"/>
          </a:solidFill>
          <a:ln w="12700">
            <a:solidFill>
              <a:srgbClr val="E0E6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6254496" y="2560320"/>
            <a:ext cx="22585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620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FFT</a:t>
            </a:r>
            <a:endParaRPr lang="en-US" sz="1700" dirty="0"/>
          </a:p>
        </p:txBody>
      </p:sp>
      <p:sp>
        <p:nvSpPr>
          <p:cNvPr id="27" name="Text 25"/>
          <p:cNvSpPr/>
          <p:nvPr/>
        </p:nvSpPr>
        <p:spPr>
          <a:xfrm>
            <a:off x="6254496" y="2926080"/>
            <a:ext cx="22585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24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 features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254496" y="3273552"/>
            <a:ext cx="225856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8 non-DC magnitude bins / channel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254496" y="4096512"/>
            <a:ext cx="2258568" cy="0"/>
          </a:xfrm>
          <a:prstGeom prst="line">
            <a:avLst/>
          </a:prstGeom>
          <a:noFill/>
          <a:ln w="12700">
            <a:solidFill>
              <a:srgbClr val="E0E6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6254496" y="4187952"/>
            <a:ext cx="112928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Params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6254496" y="4389120"/>
            <a:ext cx="11292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620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5,348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7383780" y="4187952"/>
            <a:ext cx="112928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7383780" y="4389120"/>
            <a:ext cx="11292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90A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100.000%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8833104" y="2286000"/>
            <a:ext cx="2624328" cy="3520440"/>
          </a:xfrm>
          <a:prstGeom prst="roundRect">
            <a:avLst>
              <a:gd name="adj" fmla="val 3136"/>
            </a:avLst>
          </a:prstGeom>
          <a:solidFill>
            <a:srgbClr val="FFFFFF"/>
          </a:solidFill>
          <a:ln w="12700">
            <a:solidFill>
              <a:srgbClr val="E0E6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9015984" y="2560320"/>
            <a:ext cx="22585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620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Spectral</a:t>
            </a:r>
            <a:endParaRPr lang="en-US" sz="1700" dirty="0"/>
          </a:p>
        </p:txBody>
      </p:sp>
      <p:sp>
        <p:nvSpPr>
          <p:cNvPr id="36" name="Text 34"/>
          <p:cNvSpPr/>
          <p:nvPr/>
        </p:nvSpPr>
        <p:spPr>
          <a:xfrm>
            <a:off x="9015984" y="2926080"/>
            <a:ext cx="22585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8A9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features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9015984" y="3273552"/>
            <a:ext cx="225856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Dominant frequency + peak PSD / channel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9015984" y="4096512"/>
            <a:ext cx="2258568" cy="0"/>
          </a:xfrm>
          <a:prstGeom prst="line">
            <a:avLst/>
          </a:prstGeom>
          <a:noFill/>
          <a:ln w="12700">
            <a:solidFill>
              <a:srgbClr val="E0E6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9015984" y="4187952"/>
            <a:ext cx="112928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Params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9015984" y="4389120"/>
            <a:ext cx="11292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620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3,044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10145268" y="4187952"/>
            <a:ext cx="112928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10145268" y="4389120"/>
            <a:ext cx="11292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039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96.875%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9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 2 · RESULTS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20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RMS: same accuracy, 19× fewer parameters than raw</a:t>
            </a:r>
            <a:endParaRPr lang="en-US" sz="30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548640" y="1463040"/>
          <a:ext cx="5486400" cy="44805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Text 2"/>
          <p:cNvSpPr/>
          <p:nvPr/>
        </p:nvSpPr>
        <p:spPr>
          <a:xfrm>
            <a:off x="6355080" y="1417320"/>
            <a:ext cx="5303520" cy="27432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0090A0"/>
                </a:solidFill>
                <a:latin typeface="Calibri"/>
                <a:ea typeface="Calibri"/>
                <a:cs typeface="Calibri"/>
              </a:rPr>
              <a:t>TEST ACCURACY</a:t>
            </a:r>
            <a:endParaRPr lang="en-US" sz="1100" dirty="0">
              <a:latin typeface="Calibri"/>
              <a:ea typeface="Calibri"/>
              <a:cs typeface="Calibri"/>
            </a:endParaRPr>
          </a:p>
        </p:txBody>
      </p:sp>
      <p:sp>
        <p:nvSpPr>
          <p:cNvPr id="6" name="Text 3"/>
          <p:cNvSpPr/>
          <p:nvPr/>
        </p:nvSpPr>
        <p:spPr>
          <a:xfrm>
            <a:off x="6355080" y="182880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Signal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7818120" y="1828800"/>
            <a:ext cx="777240" cy="36576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768</a:t>
            </a:r>
            <a:endParaRPr lang="en-US" sz="1000" dirty="0">
              <a:latin typeface="Calibri"/>
              <a:ea typeface="Calibri"/>
              <a:cs typeface="Calibri"/>
            </a:endParaRPr>
          </a:p>
        </p:txBody>
      </p:sp>
      <p:sp>
        <p:nvSpPr>
          <p:cNvPr id="8" name="Shape 5"/>
          <p:cNvSpPr/>
          <p:nvPr/>
        </p:nvSpPr>
        <p:spPr>
          <a:xfrm>
            <a:off x="8686800" y="1911096"/>
            <a:ext cx="1783080" cy="201168"/>
          </a:xfrm>
          <a:prstGeom prst="roundRect">
            <a:avLst>
              <a:gd name="adj" fmla="val 18182"/>
            </a:avLst>
          </a:prstGeom>
          <a:solidFill>
            <a:srgbClr val="E0E6E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8686800" y="1911096"/>
            <a:ext cx="1783080" cy="201168"/>
          </a:xfrm>
          <a:prstGeom prst="roundRect">
            <a:avLst>
              <a:gd name="adj" fmla="val 18182"/>
            </a:avLst>
          </a:prstGeom>
          <a:solidFill>
            <a:srgbClr val="0A1F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10561320" y="1828800"/>
            <a:ext cx="1051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100.000%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6355080" y="237744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RMS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7919720" y="2377440"/>
            <a:ext cx="777240" cy="36576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6 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8686800" y="2459736"/>
            <a:ext cx="1783080" cy="201168"/>
          </a:xfrm>
          <a:prstGeom prst="roundRect">
            <a:avLst>
              <a:gd name="adj" fmla="val 18182"/>
            </a:avLst>
          </a:prstGeom>
          <a:solidFill>
            <a:srgbClr val="E0E6E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1"/>
          <p:cNvSpPr/>
          <p:nvPr/>
        </p:nvSpPr>
        <p:spPr>
          <a:xfrm>
            <a:off x="8686800" y="2459736"/>
            <a:ext cx="1783080" cy="201168"/>
          </a:xfrm>
          <a:prstGeom prst="roundRect">
            <a:avLst>
              <a:gd name="adj" fmla="val 18182"/>
            </a:avLst>
          </a:prstGeom>
          <a:solidFill>
            <a:srgbClr val="0A1F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10561320" y="2377440"/>
            <a:ext cx="1051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100.000%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6355080" y="292608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FFT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7899400" y="2926080"/>
            <a:ext cx="777240" cy="36576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48</a:t>
            </a:r>
            <a:endParaRPr lang="en-US" sz="1000" dirty="0">
              <a:latin typeface="Calibri"/>
              <a:ea typeface="Calibri"/>
              <a:cs typeface="Calibri"/>
            </a:endParaRPr>
          </a:p>
        </p:txBody>
      </p:sp>
      <p:sp>
        <p:nvSpPr>
          <p:cNvPr id="18" name="Shape 15"/>
          <p:cNvSpPr/>
          <p:nvPr/>
        </p:nvSpPr>
        <p:spPr>
          <a:xfrm>
            <a:off x="8686800" y="3008376"/>
            <a:ext cx="1783080" cy="201168"/>
          </a:xfrm>
          <a:prstGeom prst="roundRect">
            <a:avLst>
              <a:gd name="adj" fmla="val 18182"/>
            </a:avLst>
          </a:prstGeom>
          <a:solidFill>
            <a:srgbClr val="E0E6E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6"/>
          <p:cNvSpPr/>
          <p:nvPr/>
        </p:nvSpPr>
        <p:spPr>
          <a:xfrm>
            <a:off x="8686800" y="3008376"/>
            <a:ext cx="1783080" cy="201168"/>
          </a:xfrm>
          <a:prstGeom prst="roundRect">
            <a:avLst>
              <a:gd name="adj" fmla="val 18182"/>
            </a:avLst>
          </a:prstGeom>
          <a:solidFill>
            <a:srgbClr val="0A1F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/>
          <p:nvPr/>
        </p:nvSpPr>
        <p:spPr>
          <a:xfrm>
            <a:off x="10561320" y="2926080"/>
            <a:ext cx="1051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100.000%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6355080" y="347472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Spectral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7929880" y="3474720"/>
            <a:ext cx="777240" cy="36576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12</a:t>
            </a:r>
            <a:endParaRPr lang="en-US" sz="1000" dirty="0">
              <a:latin typeface="Calibri"/>
              <a:ea typeface="Calibri"/>
              <a:cs typeface="Calibri"/>
            </a:endParaRPr>
          </a:p>
        </p:txBody>
      </p:sp>
      <p:sp>
        <p:nvSpPr>
          <p:cNvPr id="23" name="Shape 20"/>
          <p:cNvSpPr/>
          <p:nvPr/>
        </p:nvSpPr>
        <p:spPr>
          <a:xfrm>
            <a:off x="8686800" y="3557016"/>
            <a:ext cx="1783080" cy="201168"/>
          </a:xfrm>
          <a:prstGeom prst="roundRect">
            <a:avLst>
              <a:gd name="adj" fmla="val 18182"/>
            </a:avLst>
          </a:prstGeom>
          <a:solidFill>
            <a:srgbClr val="E0E6E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Shape 21"/>
          <p:cNvSpPr/>
          <p:nvPr/>
        </p:nvSpPr>
        <p:spPr>
          <a:xfrm>
            <a:off x="8686800" y="3557016"/>
            <a:ext cx="1727359" cy="201168"/>
          </a:xfrm>
          <a:prstGeom prst="roundRect">
            <a:avLst>
              <a:gd name="adj" fmla="val 18182"/>
            </a:avLst>
          </a:prstGeom>
          <a:solidFill>
            <a:srgbClr val="B0392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2"/>
          <p:cNvSpPr/>
          <p:nvPr/>
        </p:nvSpPr>
        <p:spPr>
          <a:xfrm>
            <a:off x="10561320" y="3474720"/>
            <a:ext cx="1051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96.875%</a:t>
            </a:r>
            <a:endParaRPr lang="en-US" sz="1000" dirty="0"/>
          </a:p>
        </p:txBody>
      </p:sp>
      <p:sp>
        <p:nvSpPr>
          <p:cNvPr id="29" name="Text 26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1F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C2D1"/>
                </a:solidFill>
                <a:latin typeface="Calibri"/>
                <a:ea typeface="Calibri"/>
                <a:cs typeface="Calibri"/>
              </a:rPr>
              <a:t>MODEL</a:t>
            </a:r>
            <a:endParaRPr lang="en-US" sz="1200" dirty="0">
              <a:latin typeface="Calibri"/>
              <a:ea typeface="Calibri"/>
              <a:cs typeface="Calibri"/>
            </a:endParaRPr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RMS Tiny INT8 model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9FB2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Selected after the controlled Study-2 comparison as the most efficient representation achieving 100% test accuracy.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4206240" cy="685800"/>
          </a:xfrm>
          <a:prstGeom prst="roundRect">
            <a:avLst>
              <a:gd name="adj" fmla="val 10667"/>
            </a:avLst>
          </a:prstGeom>
          <a:solidFill>
            <a:srgbClr val="12406B">
              <a:alpha val="7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48640" y="1965960"/>
            <a:ext cx="4206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 RMS Features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548640" y="2624328"/>
            <a:ext cx="4206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0C2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2788920"/>
            <a:ext cx="4206240" cy="685800"/>
          </a:xfrm>
          <a:prstGeom prst="roundRect">
            <a:avLst>
              <a:gd name="adj" fmla="val 10667"/>
            </a:avLst>
          </a:prstGeom>
          <a:solidFill>
            <a:srgbClr val="12406B">
              <a:alpha val="7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48640" y="2788920"/>
            <a:ext cx="4206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Dense(16), ReLU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548640" y="3447288"/>
            <a:ext cx="4206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0C2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3611880"/>
            <a:ext cx="4206240" cy="685800"/>
          </a:xfrm>
          <a:prstGeom prst="roundRect">
            <a:avLst>
              <a:gd name="adj" fmla="val 10667"/>
            </a:avLst>
          </a:prstGeom>
          <a:solidFill>
            <a:srgbClr val="12406B">
              <a:alpha val="7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48640" y="3611880"/>
            <a:ext cx="4206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Dense(8), ReLU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548640" y="4270248"/>
            <a:ext cx="4206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0C2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48640" y="4434840"/>
            <a:ext cx="4206240" cy="685800"/>
          </a:xfrm>
          <a:prstGeom prst="roundRect">
            <a:avLst>
              <a:gd name="adj" fmla="val 10667"/>
            </a:avLst>
          </a:prstGeom>
          <a:solidFill>
            <a:srgbClr val="00C2D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48640" y="4434840"/>
            <a:ext cx="4206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0A1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Softmax(4)</a:t>
            </a:r>
            <a:endParaRPr lang="en-US" sz="1450" dirty="0"/>
          </a:p>
        </p:txBody>
      </p:sp>
      <p:sp>
        <p:nvSpPr>
          <p:cNvPr id="17" name="Shape 15"/>
          <p:cNvSpPr/>
          <p:nvPr/>
        </p:nvSpPr>
        <p:spPr>
          <a:xfrm>
            <a:off x="5212080" y="1965960"/>
            <a:ext cx="2788920" cy="1371600"/>
          </a:xfrm>
          <a:prstGeom prst="roundRect">
            <a:avLst>
              <a:gd name="adj" fmla="val 6000"/>
            </a:avLst>
          </a:prstGeom>
          <a:solidFill>
            <a:srgbClr val="12406B">
              <a:alpha val="70000"/>
            </a:srgbClr>
          </a:solidFill>
          <a:ln w="12700">
            <a:solidFill>
              <a:srgbClr val="2A4E7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5212080" y="2148840"/>
            <a:ext cx="2788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0C2D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5212080" y="2834640"/>
            <a:ext cx="2788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AFC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Features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8183880" y="1965960"/>
            <a:ext cx="2788920" cy="1371600"/>
          </a:xfrm>
          <a:prstGeom prst="roundRect">
            <a:avLst>
              <a:gd name="adj" fmla="val 6000"/>
            </a:avLst>
          </a:prstGeom>
          <a:solidFill>
            <a:srgbClr val="12406B">
              <a:alpha val="70000"/>
            </a:srgbClr>
          </a:solidFill>
          <a:ln w="12700">
            <a:solidFill>
              <a:srgbClr val="2A4E7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8183880" y="2148840"/>
            <a:ext cx="2788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0C2D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284</a:t>
            </a:r>
            <a:endParaRPr lang="en-US" sz="2600" dirty="0"/>
          </a:p>
        </p:txBody>
      </p:sp>
      <p:sp>
        <p:nvSpPr>
          <p:cNvPr id="22" name="Text 20"/>
          <p:cNvSpPr/>
          <p:nvPr/>
        </p:nvSpPr>
        <p:spPr>
          <a:xfrm>
            <a:off x="8183880" y="2834640"/>
            <a:ext cx="2788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AFC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Parameters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212080" y="3520440"/>
            <a:ext cx="2788920" cy="1371600"/>
          </a:xfrm>
          <a:prstGeom prst="roundRect">
            <a:avLst>
              <a:gd name="adj" fmla="val 6000"/>
            </a:avLst>
          </a:prstGeom>
          <a:solidFill>
            <a:srgbClr val="12406B">
              <a:alpha val="70000"/>
            </a:srgbClr>
          </a:solidFill>
          <a:ln w="12700">
            <a:solidFill>
              <a:srgbClr val="2A4E7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5212080" y="3703320"/>
            <a:ext cx="2788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0C2D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256</a:t>
            </a:r>
            <a:endParaRPr lang="en-US" sz="2600" dirty="0"/>
          </a:p>
        </p:txBody>
      </p:sp>
      <p:sp>
        <p:nvSpPr>
          <p:cNvPr id="25" name="Text 23"/>
          <p:cNvSpPr/>
          <p:nvPr/>
        </p:nvSpPr>
        <p:spPr>
          <a:xfrm>
            <a:off x="5212080" y="4389120"/>
            <a:ext cx="2788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AFC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NN MACs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8183880" y="3520440"/>
            <a:ext cx="2788920" cy="1371600"/>
          </a:xfrm>
          <a:prstGeom prst="roundRect">
            <a:avLst>
              <a:gd name="adj" fmla="val 6000"/>
            </a:avLst>
          </a:prstGeom>
          <a:solidFill>
            <a:srgbClr val="12406B">
              <a:alpha val="70000"/>
            </a:srgbClr>
          </a:solidFill>
          <a:ln w="12700">
            <a:solidFill>
              <a:srgbClr val="2A4E7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8183880" y="3703320"/>
            <a:ext cx="2788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0C2D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3.414 KB</a:t>
            </a:r>
            <a:endParaRPr lang="en-US" sz="2600" dirty="0"/>
          </a:p>
        </p:txBody>
      </p:sp>
      <p:sp>
        <p:nvSpPr>
          <p:cNvPr id="28" name="Text 26"/>
          <p:cNvSpPr/>
          <p:nvPr/>
        </p:nvSpPr>
        <p:spPr>
          <a:xfrm>
            <a:off x="8183880" y="4389120"/>
            <a:ext cx="2788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AFC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INT8 TFLite Size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9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COMPARISON · PHYSICAL DEPLOYMENT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20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RMS Tiny INT8 vs. the two CNN baselines</a:t>
            </a:r>
            <a:endParaRPr lang="en-US" sz="30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56506545"/>
              </p:ext>
            </p:extLst>
          </p:nvPr>
        </p:nvGraphicFramePr>
        <p:xfrm>
          <a:off x="548640" y="1463040"/>
          <a:ext cx="7498080" cy="1920240"/>
        </p:xfrm>
        <a:graphic>
          <a:graphicData uri="http://schemas.openxmlformats.org/drawingml/2006/table">
            <a:tbl>
              <a:tblPr/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17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173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258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258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800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F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Flash (B)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F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Arena (B)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F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Inf. (ms)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F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(ms)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F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00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16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Standard INT8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6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194,408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6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6,644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6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25.370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6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26.760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00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16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Depthwise INT8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6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205,424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6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7,156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6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16.880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6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18.330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00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rPr>
                        <a:t>RMS Tiny INT8</a:t>
                      </a:r>
                      <a:endParaRPr lang="en-US" sz="1050">
                        <a:solidFill>
                          <a:schemeClr val="tx1"/>
                        </a:solidFill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rPr>
                        <a:t>165,960</a:t>
                      </a:r>
                      <a:endParaRPr lang="en-US" sz="1050">
                        <a:solidFill>
                          <a:schemeClr val="tx1"/>
                        </a:solidFill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rPr>
                        <a:t>948</a:t>
                      </a:r>
                      <a:endParaRPr lang="en-US" sz="1050">
                        <a:solidFill>
                          <a:schemeClr val="tx1"/>
                        </a:solidFill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rPr>
                        <a:t>0.165</a:t>
                      </a:r>
                      <a:endParaRPr lang="en-US" sz="1050">
                        <a:solidFill>
                          <a:schemeClr val="tx1"/>
                        </a:solidFill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rPr>
                        <a:t>0.346</a:t>
                      </a:r>
                      <a:endParaRPr lang="en-US" sz="1050">
                        <a:solidFill>
                          <a:schemeClr val="tx1"/>
                        </a:solidFill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3703320"/>
            <a:ext cx="2331720" cy="1691640"/>
          </a:xfrm>
          <a:prstGeom prst="roundRect">
            <a:avLst>
              <a:gd name="adj" fmla="val 4865"/>
            </a:avLst>
          </a:prstGeom>
          <a:solidFill>
            <a:srgbClr val="0A1F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713232" y="3840480"/>
            <a:ext cx="200253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0C2D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99.35%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713232" y="4370832"/>
            <a:ext cx="2002536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00" dirty="0">
                <a:solidFill>
                  <a:srgbClr val="AFC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 NN inference latency vs. Standard CNN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3017520" y="3703320"/>
            <a:ext cx="2331720" cy="1691640"/>
          </a:xfrm>
          <a:prstGeom prst="roundRect">
            <a:avLst>
              <a:gd name="adj" fmla="val 4865"/>
            </a:avLst>
          </a:prstGeom>
          <a:solidFill>
            <a:srgbClr val="0A1F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3182112" y="3840480"/>
            <a:ext cx="200253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0C2D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98.11%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3182112" y="4370832"/>
            <a:ext cx="2002536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00" dirty="0">
                <a:solidFill>
                  <a:srgbClr val="AFC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 total processing time vs. Depthwise CNN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5486400" y="3703320"/>
            <a:ext cx="2331720" cy="1691640"/>
          </a:xfrm>
          <a:prstGeom prst="roundRect">
            <a:avLst>
              <a:gd name="adj" fmla="val 4865"/>
            </a:avLst>
          </a:prstGeom>
          <a:solidFill>
            <a:srgbClr val="0A1F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9"/>
          <p:cNvSpPr/>
          <p:nvPr/>
        </p:nvSpPr>
        <p:spPr>
          <a:xfrm>
            <a:off x="5650992" y="3840480"/>
            <a:ext cx="200253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0C2D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948 B</a:t>
            </a:r>
            <a:endParaRPr lang="en-US" sz="2200" dirty="0"/>
          </a:p>
        </p:txBody>
      </p:sp>
      <p:sp>
        <p:nvSpPr>
          <p:cNvPr id="13" name="Text 10"/>
          <p:cNvSpPr/>
          <p:nvPr/>
        </p:nvSpPr>
        <p:spPr>
          <a:xfrm>
            <a:off x="5650992" y="4370832"/>
            <a:ext cx="2002536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00" dirty="0">
                <a:solidFill>
                  <a:srgbClr val="AFC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Tensor Arena — down from 6,644 / 7,156 B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8229600" y="141732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009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INFERENCE LATENCY (ms)</a:t>
            </a:r>
            <a:endParaRPr lang="en-US" sz="1050" dirty="0"/>
          </a:p>
        </p:txBody>
      </p:sp>
      <p:graphicFrame>
        <p:nvGraphicFramePr>
          <p:cNvPr id="15" name="Chart 0"/>
          <p:cNvGraphicFramePr/>
          <p:nvPr/>
        </p:nvGraphicFramePr>
        <p:xfrm>
          <a:off x="8229600" y="1691640"/>
          <a:ext cx="3383280" cy="35661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6" name="Text 12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9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ROBUSTNESS CHECK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20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Is 100% accuracy an artifact of the split?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2148840"/>
            <a:ext cx="548640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E0E6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749808" y="2404872"/>
            <a:ext cx="502920" cy="502920"/>
          </a:xfrm>
          <a:prstGeom prst="ellipse">
            <a:avLst/>
          </a:prstGeom>
          <a:solidFill>
            <a:srgbClr val="E6FB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49808" y="240487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90A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417320" y="2267712"/>
            <a:ext cx="4480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620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duplicate leakage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417320" y="2578608"/>
            <a:ext cx="4480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50"/>
              </a:lnSpc>
              <a:buNone/>
            </a:pPr>
            <a:r>
              <a:rPr lang="en-US" sz="11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exact-duplicate IMU windows found across train / validation / test partitions.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3355848"/>
            <a:ext cx="548640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E0E6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749808" y="3611880"/>
            <a:ext cx="502920" cy="502920"/>
          </a:xfrm>
          <a:prstGeom prst="ellipse">
            <a:avLst/>
          </a:prstGeom>
          <a:solidFill>
            <a:srgbClr val="E6FB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749808" y="36118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90A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417320" y="3474720"/>
            <a:ext cx="4480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620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Alternative blocked split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417320" y="3785616"/>
            <a:ext cx="4480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50"/>
              </a:lnSpc>
              <a:buNone/>
            </a:pPr>
            <a:r>
              <a:rPr lang="en-US" sz="11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stricter 60/20/20 blocked split (no random shuffling within class) was evaluated as a supplementary check.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48640" y="4562856"/>
            <a:ext cx="548640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E0E6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749808" y="4818888"/>
            <a:ext cx="502920" cy="502920"/>
          </a:xfrm>
          <a:prstGeom prst="ellipse">
            <a:avLst/>
          </a:prstGeom>
          <a:solidFill>
            <a:srgbClr val="E6FB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749808" y="481888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90A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417320" y="4681728"/>
            <a:ext cx="4480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620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1-NN baseline agrees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417320" y="4992624"/>
            <a:ext cx="4480560" cy="54864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lnSpc>
                <a:spcPts val="1450"/>
              </a:lnSpc>
              <a:buNone/>
            </a:pPr>
            <a:r>
              <a:rPr lang="en-US" sz="1100" dirty="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A simple 1-nearest-neighbor raw-signal baseline also reaches 100% under the blocked split.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446520" y="214884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009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80/10/10  vs.  BLOCKED 60/20/20</a:t>
            </a:r>
            <a:endParaRPr lang="en-US" sz="11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46520" y="2468880"/>
          <a:ext cx="5120640" cy="1097280"/>
        </p:xfrm>
        <a:graphic>
          <a:graphicData uri="http://schemas.openxmlformats.org/drawingml/2006/table">
            <a:tbl>
              <a:tblPr/>
              <a:tblGrid>
                <a:gridCol w="1737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F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Random Acc.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F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Blocked Acc.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F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Δ (pp)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F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16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1-NN Raw Signal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6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100.0%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6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100.0%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6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16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RMS Tiny FP32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6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100.0%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6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100.0%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6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5" name="Text 22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9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VALIDATION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20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 just simulation — real hardware, real measurements</a:t>
            </a:r>
            <a:endParaRPr lang="en-US" sz="3000" dirty="0"/>
          </a:p>
        </p:txBody>
      </p:sp>
      <p:pic>
        <p:nvPicPr>
          <p:cNvPr id="4" name="Image 0" descr="hardware_setup.jp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48640" y="1508760"/>
            <a:ext cx="5212080" cy="443484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" y="1508760"/>
            <a:ext cx="5212080" cy="4434840"/>
          </a:xfrm>
          <a:prstGeom prst="roundRect">
            <a:avLst>
              <a:gd name="adj" fmla="val 1237"/>
            </a:avLst>
          </a:prstGeom>
          <a:ln w="19050">
            <a:solidFill>
              <a:srgbClr val="E0E6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548640" y="6035040"/>
            <a:ext cx="5212080" cy="4572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Arduino Nano 33 BLE running the </a:t>
            </a:r>
            <a:r>
              <a:rPr lang="en-US" sz="1000" i="1" dirty="0" err="1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Depthwise</a:t>
            </a:r>
            <a:r>
              <a:rPr lang="en-US" sz="1000" i="1" dirty="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 CNN INT8 classifier via TensorFlow Lite Micro.</a:t>
            </a:r>
            <a:endParaRPr lang="en-US" sz="1000" i="1" dirty="0">
              <a:solidFill>
                <a:srgbClr val="5C6B7A"/>
              </a:solidFill>
              <a:ea typeface="Calibri"/>
              <a:cs typeface="Calibri"/>
            </a:endParaRPr>
          </a:p>
        </p:txBody>
      </p:sp>
      <p:pic>
        <p:nvPicPr>
          <p:cNvPr id="7" name="Image 1" descr="standard_cnn_fp32_confusion_matrix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080760" y="1508760"/>
            <a:ext cx="5532120" cy="443484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080760" y="6019800"/>
            <a:ext cx="5532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CNN FP32 — perfect diagonal (8/8) on every gesture class in the fixed 32-window test set.</a:t>
            </a:r>
            <a:endParaRPr lang="en-US" sz="1000" dirty="0"/>
          </a:p>
        </p:txBody>
      </p:sp>
      <p:sp>
        <p:nvSpPr>
          <p:cNvPr id="9" name="Text 5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A1F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645920"/>
            <a:ext cx="5029200" cy="5029200"/>
          </a:xfrm>
          <a:prstGeom prst="ellipse">
            <a:avLst/>
          </a:prstGeom>
          <a:solidFill>
            <a:srgbClr val="12406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C2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Feature engineering beat network compression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417320"/>
            <a:ext cx="10607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1400" dirty="0">
                <a:solidFill>
                  <a:srgbClr val="AFC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strategies helped — </a:t>
            </a: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Depthwise CNN</a:t>
            </a:r>
            <a:r>
              <a:rPr lang="en-US" sz="1400" dirty="0">
                <a:solidFill>
                  <a:srgbClr val="AFC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cut MACs by ~67% and latency by ~33.5% — but </a:t>
            </a:r>
            <a:r>
              <a:rPr lang="en-US" sz="1400" b="1" dirty="0">
                <a:solidFill>
                  <a:srgbClr val="00C2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RMS feature engineering</a:t>
            </a:r>
            <a:r>
              <a:rPr lang="en-US" sz="1400" dirty="0">
                <a:solidFill>
                  <a:srgbClr val="AFC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delivered the largest overall gain: compressing 768 raw values to 6 features with zero accuracy loss.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251460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00C2D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48640" y="25146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A1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188720" y="2514600"/>
            <a:ext cx="9692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final RMS Tiny INT8 model runs in 0.165 ms per inference — 99%+ faster than both CNN baselines, on the same hardware.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329184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00C2D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48640" y="32918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A1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198880" y="3281680"/>
            <a:ext cx="9692640" cy="54864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sz="1300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Power and energy consumption were not directly measured — a natural next step alongside latency and memory.</a:t>
            </a:r>
            <a:endParaRPr lang="en-US" sz="1300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pPr marL="0" indent="0">
              <a:lnSpc>
                <a:spcPts val="1700"/>
              </a:lnSpc>
              <a:buNone/>
            </a:pPr>
            <a:endParaRPr lang="en-US" sz="1300" dirty="0">
              <a:solidFill>
                <a:srgbClr val="FFFFFF"/>
              </a:solidFill>
              <a:ea typeface="Calibri"/>
              <a:cs typeface="Calibri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548640" y="40690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A1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18160" y="4582160"/>
            <a:ext cx="11064240" cy="0"/>
          </a:xfrm>
          <a:prstGeom prst="line">
            <a:avLst/>
          </a:prstGeom>
          <a:noFill/>
          <a:ln w="12700">
            <a:solidFill>
              <a:srgbClr val="2A4E7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48640" y="4881880"/>
            <a:ext cx="221284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0C2D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284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548640" y="5511800"/>
            <a:ext cx="22128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FB2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Parameters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2761488" y="4881880"/>
            <a:ext cx="221284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0C2D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256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2761488" y="5511800"/>
            <a:ext cx="22128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FB2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NN MACs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974336" y="4892040"/>
            <a:ext cx="221284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0C2D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3.41 KB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4974336" y="5511800"/>
            <a:ext cx="22128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FB2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Size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7177024" y="4892040"/>
            <a:ext cx="221284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0C2D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0.165 ms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7156704" y="5511800"/>
            <a:ext cx="22128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FB2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Inference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9369552" y="4892040"/>
            <a:ext cx="221284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0C2D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100%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9389872" y="5511800"/>
            <a:ext cx="22128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FB2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E82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Zamani &amp; Abbas Nejad Fard · Università di Trento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9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sz="3000" b="1" dirty="0">
                <a:solidFill>
                  <a:srgbClr val="16202B"/>
                </a:solidFill>
                <a:latin typeface="Cambria"/>
                <a:ea typeface="Cambria"/>
              </a:rPr>
              <a:t>Related works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11064240" cy="786384"/>
          </a:xfrm>
          <a:prstGeom prst="roundRect">
            <a:avLst>
              <a:gd name="adj" fmla="val 8140"/>
            </a:avLst>
          </a:prstGeom>
          <a:solidFill>
            <a:srgbClr val="F5F8FA"/>
          </a:solidFill>
          <a:ln w="12700">
            <a:solidFill>
              <a:srgbClr val="E0E6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68680" y="1554480"/>
            <a:ext cx="1042416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00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[1] L. L. Custode, P. Farina, E. Yildiz, R. B. Kilic, K. S. Yildirim, G. Iacca. "Fast-Inf: Ultra-Fast Embedded Intelligence on the Batteryless Edge." Proc. 22nd ACM Conf. on Embedded Networked Sensor Systems (SenSys '24), ACM, 2024, pp. 239–252.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48640" y="2450592"/>
            <a:ext cx="11064240" cy="786384"/>
          </a:xfrm>
          <a:prstGeom prst="roundRect">
            <a:avLst>
              <a:gd name="adj" fmla="val 8140"/>
            </a:avLst>
          </a:prstGeom>
          <a:solidFill>
            <a:srgbClr val="FFFFFF"/>
          </a:solidFill>
          <a:ln w="12700">
            <a:solidFill>
              <a:srgbClr val="E0E6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868680" y="2450592"/>
            <a:ext cx="1042416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00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[2] I. Fodor, R. Lorenzon, G. Pin, S. Antonello, K. S. Yildirim. "Embedded-AI Based Fault Detection in Domestic Dishwashers: A Tale of On-Device Time Series Deep Classification." IFAC-PapersOnLine, vol. 59, no. 26, 2025, pp. 371–376.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" y="3346704"/>
            <a:ext cx="11064240" cy="786384"/>
          </a:xfrm>
          <a:prstGeom prst="roundRect">
            <a:avLst>
              <a:gd name="adj" fmla="val 8140"/>
            </a:avLst>
          </a:prstGeom>
          <a:solidFill>
            <a:srgbClr val="F5F8FA"/>
          </a:solidFill>
          <a:ln w="12700">
            <a:solidFill>
              <a:srgbClr val="E0E6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868680" y="3346704"/>
            <a:ext cx="1042416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00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[3] M. A. Hasanpour, M. Kirkegaard, X. Fafoutis. "EdgeMark: An Automation and Benchmarking System for Embedded Artificial Intelligence Tools." Journal of Systems Architecture, vol. 167, 2025, art. 103488.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8640" y="6144768"/>
            <a:ext cx="11064240" cy="566928"/>
          </a:xfrm>
          <a:prstGeom prst="roundRect">
            <a:avLst>
              <a:gd name="adj" fmla="val 11290"/>
            </a:avLst>
          </a:prstGeom>
          <a:solidFill>
            <a:srgbClr val="0A1F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822960" y="6144768"/>
            <a:ext cx="10515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AFC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Code, datasets, and deployment files:  </a:t>
            </a:r>
            <a:r>
              <a:rPr lang="en-US" sz="1150" b="1" dirty="0">
                <a:solidFill>
                  <a:srgbClr val="00C2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github.com/mrzamaniiii/TinyML-Compression-Benchmark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1724</Words>
  <Application>Microsoft Office PowerPoint</Application>
  <PresentationFormat>Widescreen</PresentationFormat>
  <Paragraphs>345</Paragraphs>
  <Slides>15</Slides>
  <Notes>15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6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Asal Abbas Nejad Fard</cp:lastModifiedBy>
  <cp:revision>71</cp:revision>
  <dcterms:created xsi:type="dcterms:W3CDTF">2026-09-04T11:09:33Z</dcterms:created>
  <dcterms:modified xsi:type="dcterms:W3CDTF">2026-09-07T13:35:50Z</dcterms:modified>
</cp:coreProperties>
</file>